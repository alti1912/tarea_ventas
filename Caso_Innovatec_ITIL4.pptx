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2921264c-c447-18b4-903a-205ed01f9a55}">
          <p14:sldIdLst>
            <p14:sldId id="256"/>
            <p14:sldId id="257"/>
          </p14:sldIdLst>
        </p14:section>
        <p14:section name="Diagnóstico" id="{55673ce4-274c-cbc4-95bc-0e879919bad9}">
          <p14:sldIdLst>
            <p14:sldId id="258"/>
            <p14:sldId id="259"/>
          </p14:sldIdLst>
        </p14:section>
        <p14:section name="Los 7 principios" id="{edfd30b2-1342-bfab-9f07-a6f9c281af0f}">
          <p14:sldIdLst>
            <p14:sldId id="260"/>
            <p14:sldId id="261"/>
            <p14:sldId id="262"/>
            <p14:sldId id="263"/>
          </p14:sldIdLst>
        </p14:section>
        <p14:section name="Propuesta" id="{efbe40a8-4986-42b4-1007-8e510b32d392}">
          <p14:sldIdLst>
            <p14:sldId id="264"/>
            <p14:sldId id="265"/>
          </p14:sldIdLst>
        </p14:section>
        <p14:section name="Cierre" id="{bd020b24-7763-d97f-9ade-c16671a52c6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análisis del caso Innovatec. La idea central: el problema no es la falta de un software caro, sino un proceso de soporte desordenado. Usamos los 7 principios de ITIL 4 para proponer una solución por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la usan cuatro grupos con necesidades distintas. Todos dependen de que el soporte funcione. Por eso el foco no es la plataforma en sí, sino el servicio de soporte que la rodea.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Agrupamos los 10 problemas del caso en tres causas. Canales dispersos: puntos 2 a 5. Usuarios a ciegas: puntos 1 y 6. Decisiones sin datos: puntos 7, 9 y 10. Y hay un recurso desaprovechado: el punto 8, la experiencia de TI con una herramienta gratuita.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donde tomamos postura. La dirección propone comprar e implementar todo de golpe; eso choca con al menos tres principios: valor, empezar donde se está y progresar iterativamente. No decimos 'nunca comprar': decimos comprar solo si el piloto demuestra que la herramienta gratuita no alcanza.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 según el ejemplo del curso, recuperar contraseñas suele ser una de las consultas más frecuentes; automatizarlo con autoservicio seguro es la mejora más visible y barata. Empezar donde se está: TI ya conoce una herramienta gratuita; antes de descartarla hay que probarla.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vez de activar todo de una vez, como quiere la dirección, avanzamos en cuatro etapas. La etapa 1 ya resuelve el problema principal: que todo quede registrado y con seguimiento. Cada etapa se evalúa con los usuarios antes de pasar a la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Colaborar: en el caso nadie consultó a los usuarios; empezamos por ahí. Holístico: no basta con elegir software; revisamos las cuatro dimensiones de ITIL. Por ejemplo, si el personal no se capacita o el proceso sigue con pasos de más, la herramienta no resuelve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el formulario pide solo tres datos. Cada campo extra es una barrera para el usuario. Optimizar y automatizar: el orden importa. Primero quitamos los pasos que sobran, como copiar del correo al Excel; recién después automatizamos.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cada solicitud entraba por un canal distinto y terminaba en un Excel. Después: una sola puerta de entrada, el portal. Cada solicitud es un ticket que se clasifica, se asigna, se resuelve y se notifica; al cerrar, el usuario califica la atención. Para no forzar el cambio, WhatsApp y correo responden con el enlace al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se ve en cuatro cosas: menos tiempo, cero solicitudes perdidas, seguimiento visible y datos para decidir. Y no requiere una compra inicial. Para no quedarnos en promesas, definimos cuatro indicadores; la primera etapa sirve para medir el punto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idea central: los principios de ITIL sirven para tomar mejores decisiones. Proponemos tres pasos concretos: consultar a los usuarios, pilotear con lo que ya tenemos y decidir con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4937760" cy="32004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1508760"/>
            <a:ext cx="512064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834640"/>
            <a:ext cx="475488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Caso Innovatec</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4937760" cy="320040"/>
          </a:xfrm>
          <a:prstGeom prst="rect">
            <a:avLst/>
          </a:prstGeom>
          <a:noFill/>
          <a:ln/>
        </p:spPr>
        <p:txBody>
          <a:bodyPr wrap="square" lIns="0" tIns="0" rIns="0" bIns="0" rtlCol="0"/>
          <a:lstStyle/>
          <a:p>
            <a:pPr indent="0" marL="0">
              <a:buNone/>
            </a:pPr>
            <a:r>
              <a:rPr lang="en-US" sz="1200" b="1" spc="200" kern="0" dirty="0">
                <a:solidFill>
                  <a:schemeClr val="accent2"/>
                </a:solidFill>
              </a:rPr>
              <a:t>CASO PRÁCTICO</a:t>
            </a:r>
            <a:endParaRPr lang="en-US" sz="1200" dirty="0"/>
          </a:p>
        </p:txBody>
      </p:sp>
      <p:sp>
        <p:nvSpPr>
          <p:cNvPr id="3" name="Text 0"/>
          <p:cNvSpPr/>
          <p:nvPr>
            <p:ph idx="101" type="title" hasCustomPrompt="1"/>
          </p:nvPr>
        </p:nvSpPr>
        <p:spPr>
          <a:xfrm>
            <a:off x="548640" y="1508760"/>
            <a:ext cx="5120640" cy="1280160"/>
          </a:xfrm>
          <a:prstGeom prst="rect">
            <a:avLst/>
          </a:prstGeom>
          <a:noFill/>
          <a:ln/>
        </p:spPr>
        <p:txBody>
          <a:bodyPr wrap="square" lIns="0" tIns="0" rIns="0" bIns="0" rtlCol="0" anchor="t"/>
          <a:lstStyle/>
          <a:p>
            <a:pPr algn="l" indent="0" marL="0">
              <a:buNone/>
            </a:pPr>
            <a:r>
              <a:rPr lang="en-US" sz="4000" b="1" dirty="0">
                <a:solidFill>
                  <a:schemeClr val="bg1"/>
                </a:solidFill>
              </a:rPr>
              <a:t>Instituto Innovatec</a:t>
            </a:r>
            <a:endParaRPr lang="en-US" sz="4000" dirty="0"/>
          </a:p>
        </p:txBody>
      </p:sp>
      <p:sp>
        <p:nvSpPr>
          <p:cNvPr id="4" name="Text 0"/>
          <p:cNvSpPr/>
          <p:nvPr>
            <p:ph idx="102" type="body" hasCustomPrompt="1"/>
          </p:nvPr>
        </p:nvSpPr>
        <p:spPr>
          <a:xfrm>
            <a:off x="548640" y="2834640"/>
            <a:ext cx="4754880" cy="914400"/>
          </a:xfrm>
          <a:prstGeom prst="rect">
            <a:avLst/>
          </a:prstGeom>
          <a:noFill/>
          <a:ln/>
        </p:spPr>
        <p:txBody>
          <a:bodyPr wrap="square" lIns="0" tIns="0" rIns="0" bIns="0" rtlCol="0" anchor="t"/>
          <a:lstStyle/>
          <a:p>
            <a:pPr indent="0" marL="0">
              <a:buNone/>
            </a:pPr>
            <a:r>
              <a:rPr lang="en-US" sz="1800" dirty="0">
                <a:solidFill>
                  <a:schemeClr val="bg2"/>
                </a:solidFill>
              </a:rPr>
              <a:t>Cómo ordenar el soporte de la plataforma académica aplicando los 7 principios orientadores de ITIL 4</a:t>
            </a:r>
            <a:endParaRPr lang="en-US" sz="1800" dirty="0"/>
          </a:p>
        </p:txBody>
      </p:sp>
      <p:sp>
        <p:nvSpPr>
          <p:cNvPr id="5" name="author info"/>
          <p:cNvSpPr txBox="1"/>
          <p:nvPr/>
        </p:nvSpPr>
        <p:spPr>
          <a:xfrm>
            <a:off x="548640" y="4069080"/>
            <a:ext cx="4937760" cy="777240"/>
          </a:xfrm>
          <a:prstGeom prst="rect">
            <a:avLst/>
          </a:prstGeom>
          <a:noFill/>
          <a:ln/>
        </p:spPr>
        <p:txBody>
          <a:bodyPr wrap="square" lIns="0" tIns="0" rIns="0" bIns="0" rtlCol="0" anchor="t"/>
          <a:lstStyle/>
          <a:p>
            <a:pPr indent="0" marL="0">
              <a:spcAft>
                <a:spcPts val="200"/>
              </a:spcAft>
              <a:buNone/>
            </a:pPr>
            <a:r>
              <a:rPr lang="en-US" sz="1400" b="1" dirty="0">
                <a:solidFill>
                  <a:schemeClr val="bg1"/>
                </a:solidFill>
              </a:rPr>
              <a:t>Nils Alexander Tovar Pinzón</a:t>
            </a:r>
            <a:endParaRPr lang="en-US" sz="1400" dirty="0"/>
          </a:p>
          <a:p>
            <a:pPr indent="0" marL="0">
              <a:spcAft>
                <a:spcPts val="200"/>
              </a:spcAft>
              <a:buNone/>
            </a:pPr>
            <a:r>
              <a:rPr lang="en-US" sz="1200" dirty="0">
                <a:solidFill>
                  <a:schemeClr val="bg2"/>
                </a:solidFill>
              </a:rPr>
              <a:t>IV CICLO - SECCIÓN B</a:t>
            </a:r>
            <a:endParaRPr lang="en-US" sz="1400" dirty="0"/>
          </a:p>
          <a:p>
            <a:pPr indent="0" marL="0">
              <a:spcAft>
                <a:spcPts val="200"/>
              </a:spcAft>
              <a:buNone/>
            </a:pPr>
            <a:r>
              <a:rPr lang="en-US" sz="1200" dirty="0">
                <a:solidFill>
                  <a:schemeClr val="accent2"/>
                </a:solidFill>
              </a:rPr>
              <a:t>GESTIÓN DE SERVICIOS TI - ZANDI MALLQU</a:t>
            </a:r>
            <a:endParaRPr lang="en-US" sz="1400" dirty="0"/>
          </a:p>
        </p:txBody>
      </p:sp>
      <p:sp>
        <p:nvSpPr>
          <p:cNvPr id="6" name="halo"/>
          <p:cNvSpPr/>
          <p:nvPr/>
        </p:nvSpPr>
        <p:spPr>
          <a:xfrm>
            <a:off x="5989320" y="1051560"/>
            <a:ext cx="2743200" cy="2743200"/>
          </a:xfrm>
          <a:prstGeom prst="ellipse">
            <a:avLst/>
          </a:prstGeom>
          <a:solidFill>
            <a:schemeClr val="accent1">
              <a:alpha val="25000"/>
            </a:schemeClr>
          </a:solidFill>
          <a:ln/>
        </p:spPr>
      </p:sp>
      <p:sp>
        <p:nvSpPr>
          <p:cNvPr id="7" name="Mesa de ayuda circle"/>
          <p:cNvSpPr/>
          <p:nvPr/>
        </p:nvSpPr>
        <p:spPr>
          <a:xfrm>
            <a:off x="6629400" y="1691640"/>
            <a:ext cx="1463040" cy="1463040"/>
          </a:xfrm>
          <a:prstGeom prst="ellipse">
            <a:avLst/>
          </a:prstGeom>
          <a:solidFill>
            <a:srgbClr val="2A9D8F"/>
          </a:solidFill>
          <a:ln/>
        </p:spPr>
      </p:sp>
      <p:pic>
        <p:nvPicPr>
          <p:cNvPr id="8" name="Mesa de ayuda icon" descr="Mesa de ayuda">    </p:cNvPr>
          <p:cNvPicPr>
            <a:picLocks noChangeAspect="1"/>
          </p:cNvPicPr>
          <p:nvPr/>
        </p:nvPicPr>
        <p:blipFill>
          <a:blip r:embed="rId1"/>
          <a:stretch>
            <a:fillRect/>
          </a:stretch>
        </p:blipFill>
        <p:spPr>
          <a:xfrm>
            <a:off x="6980530" y="2042770"/>
            <a:ext cx="760781" cy="760781"/>
          </a:xfrm>
          <a:prstGeom prst="rect">
            <a:avLst/>
          </a:prstGeom>
        </p:spPr>
      </p:pic>
      <p:sp>
        <p:nvSpPr>
          <p:cNvPr id="9" name="Estudiante circle"/>
          <p:cNvSpPr/>
          <p:nvPr/>
        </p:nvSpPr>
        <p:spPr>
          <a:xfrm>
            <a:off x="5669280" y="914400"/>
            <a:ext cx="777240" cy="777240"/>
          </a:xfrm>
          <a:prstGeom prst="ellipse">
            <a:avLst/>
          </a:prstGeom>
          <a:solidFill>
            <a:srgbClr val="F4A261"/>
          </a:solidFill>
          <a:ln/>
        </p:spPr>
      </p:sp>
      <p:pic>
        <p:nvPicPr>
          <p:cNvPr id="10" name="Estudiante icon" descr="Estudiante">    </p:cNvPr>
          <p:cNvPicPr>
            <a:picLocks noChangeAspect="1"/>
          </p:cNvPicPr>
          <p:nvPr/>
        </p:nvPicPr>
        <p:blipFill>
          <a:blip r:embed="rId2"/>
          <a:stretch>
            <a:fillRect/>
          </a:stretch>
        </p:blipFill>
        <p:spPr>
          <a:xfrm>
            <a:off x="5855818" y="1100938"/>
            <a:ext cx="404165" cy="404165"/>
          </a:xfrm>
          <a:prstGeom prst="rect">
            <a:avLst/>
          </a:prstGeom>
        </p:spPr>
      </p:pic>
      <p:sp>
        <p:nvSpPr>
          <p:cNvPr id="11" name="Docente circle"/>
          <p:cNvSpPr/>
          <p:nvPr/>
        </p:nvSpPr>
        <p:spPr>
          <a:xfrm>
            <a:off x="8183880" y="1051560"/>
            <a:ext cx="777240" cy="777240"/>
          </a:xfrm>
          <a:prstGeom prst="ellipse">
            <a:avLst/>
          </a:prstGeom>
          <a:solidFill>
            <a:srgbClr val="F4A261"/>
          </a:solidFill>
          <a:ln/>
        </p:spPr>
      </p:sp>
      <p:pic>
        <p:nvPicPr>
          <p:cNvPr id="12" name="Docente icon" descr="Docente">    </p:cNvPr>
          <p:cNvPicPr>
            <a:picLocks noChangeAspect="1"/>
          </p:cNvPicPr>
          <p:nvPr/>
        </p:nvPicPr>
        <p:blipFill>
          <a:blip r:embed="rId3"/>
          <a:stretch>
            <a:fillRect/>
          </a:stretch>
        </p:blipFill>
        <p:spPr>
          <a:xfrm>
            <a:off x="8370418" y="1238098"/>
            <a:ext cx="404165" cy="404165"/>
          </a:xfrm>
          <a:prstGeom prst="rect">
            <a:avLst/>
          </a:prstGeom>
        </p:spPr>
      </p:pic>
      <p:sp>
        <p:nvSpPr>
          <p:cNvPr id="13" name="Ticket circle"/>
          <p:cNvSpPr/>
          <p:nvPr/>
        </p:nvSpPr>
        <p:spPr>
          <a:xfrm>
            <a:off x="5806440" y="3246120"/>
            <a:ext cx="777240" cy="777240"/>
          </a:xfrm>
          <a:prstGeom prst="ellipse">
            <a:avLst/>
          </a:prstGeom>
          <a:solidFill>
            <a:srgbClr val="FFFFFF"/>
          </a:solidFill>
          <a:ln/>
        </p:spPr>
      </p:sp>
      <p:pic>
        <p:nvPicPr>
          <p:cNvPr id="14" name="Ticket icon" descr="Ticket">    </p:cNvPr>
          <p:cNvPicPr>
            <a:picLocks noChangeAspect="1"/>
          </p:cNvPicPr>
          <p:nvPr/>
        </p:nvPicPr>
        <p:blipFill>
          <a:blip r:embed="rId4"/>
          <a:stretch>
            <a:fillRect/>
          </a:stretch>
        </p:blipFill>
        <p:spPr>
          <a:xfrm>
            <a:off x="5992978" y="3432658"/>
            <a:ext cx="404165" cy="404165"/>
          </a:xfrm>
          <a:prstGeom prst="rect">
            <a:avLst/>
          </a:prstGeom>
        </p:spPr>
      </p:pic>
      <p:sp>
        <p:nvSpPr>
          <p:cNvPr id="15" name="Solución circle"/>
          <p:cNvSpPr/>
          <p:nvPr/>
        </p:nvSpPr>
        <p:spPr>
          <a:xfrm>
            <a:off x="8092440" y="3200400"/>
            <a:ext cx="777240" cy="777240"/>
          </a:xfrm>
          <a:prstGeom prst="ellipse">
            <a:avLst/>
          </a:prstGeom>
          <a:solidFill>
            <a:srgbClr val="FFFFFF"/>
          </a:solidFill>
          <a:ln/>
        </p:spPr>
      </p:sp>
      <p:pic>
        <p:nvPicPr>
          <p:cNvPr id="16" name="Solución icon" descr="Solución">    </p:cNvPr>
          <p:cNvPicPr>
            <a:picLocks noChangeAspect="1"/>
          </p:cNvPicPr>
          <p:nvPr/>
        </p:nvPicPr>
        <p:blipFill>
          <a:blip r:embed="rId5"/>
          <a:stretch>
            <a:fillRect/>
          </a:stretch>
        </p:blipFill>
        <p:spPr>
          <a:xfrm>
            <a:off x="8278978" y="3386938"/>
            <a:ext cx="404165" cy="4041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CONTEXTO</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Una plataforma, cuatro tipos de usuarios</a:t>
            </a:r>
            <a:endParaRPr lang="en-US" sz="2800" dirty="0"/>
          </a:p>
        </p:txBody>
      </p:sp>
      <p:sp>
        <p:nvSpPr>
          <p:cNvPr id="4" name="Estudiantes card"/>
          <p:cNvSpPr/>
          <p:nvPr/>
        </p:nvSpPr>
        <p:spPr>
          <a:xfrm>
            <a:off x="457200" y="1371600"/>
            <a:ext cx="2148840" cy="1508760"/>
          </a:xfrm>
          <a:prstGeom prst="roundRect">
            <a:avLst>
              <a:gd name="adj" fmla="val 4848"/>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5" name="Estudiantes circle"/>
          <p:cNvSpPr/>
          <p:nvPr/>
        </p:nvSpPr>
        <p:spPr>
          <a:xfrm>
            <a:off x="640080" y="1554480"/>
            <a:ext cx="502920" cy="502920"/>
          </a:xfrm>
          <a:prstGeom prst="ellipse">
            <a:avLst/>
          </a:prstGeom>
          <a:solidFill>
            <a:srgbClr val="2A9D8F"/>
          </a:solidFill>
          <a:ln/>
        </p:spPr>
      </p:sp>
      <p:pic>
        <p:nvPicPr>
          <p:cNvPr id="6" name="Estudiantes icon" descr="Estudiantes">    </p:cNvPr>
          <p:cNvPicPr>
            <a:picLocks noChangeAspect="1"/>
          </p:cNvPicPr>
          <p:nvPr/>
        </p:nvPicPr>
        <p:blipFill>
          <a:blip r:embed="rId1"/>
          <a:stretch>
            <a:fillRect/>
          </a:stretch>
        </p:blipFill>
        <p:spPr>
          <a:xfrm>
            <a:off x="760781" y="1675181"/>
            <a:ext cx="261518" cy="261518"/>
          </a:xfrm>
          <a:prstGeom prst="rect">
            <a:avLst/>
          </a:prstGeom>
        </p:spPr>
      </p:pic>
      <p:sp>
        <p:nvSpPr>
          <p:cNvPr id="7" name="Text 4"/>
          <p:cNvSpPr txBox="1"/>
          <p:nvPr/>
        </p:nvSpPr>
        <p:spPr>
          <a:xfrm>
            <a:off x="1234440" y="1645920"/>
            <a:ext cx="1280160" cy="320040"/>
          </a:xfrm>
          <a:prstGeom prst="rect">
            <a:avLst/>
          </a:prstGeom>
          <a:noFill/>
          <a:ln/>
        </p:spPr>
        <p:txBody>
          <a:bodyPr wrap="square" lIns="0" tIns="0" rIns="0" bIns="0" rtlCol="0" anchor="ctr"/>
          <a:lstStyle/>
          <a:p>
            <a:pPr indent="0" marL="0">
              <a:buNone/>
            </a:pPr>
            <a:r>
              <a:rPr lang="en-US" sz="1500" b="1" dirty="0">
                <a:solidFill>
                  <a:schemeClr val="tx2"/>
                </a:solidFill>
              </a:rPr>
              <a:t>Estudiantes</a:t>
            </a:r>
            <a:endParaRPr lang="en-US" sz="1500" dirty="0"/>
          </a:p>
        </p:txBody>
      </p:sp>
      <p:sp>
        <p:nvSpPr>
          <p:cNvPr id="8" name="Text 5"/>
          <p:cNvSpPr txBox="1"/>
          <p:nvPr/>
        </p:nvSpPr>
        <p:spPr>
          <a:xfrm>
            <a:off x="640080" y="2148840"/>
            <a:ext cx="1783080" cy="685800"/>
          </a:xfrm>
          <a:prstGeom prst="rect">
            <a:avLst/>
          </a:prstGeom>
          <a:noFill/>
          <a:ln/>
        </p:spPr>
        <p:txBody>
          <a:bodyPr wrap="square" lIns="0" tIns="0" rIns="0" bIns="0" rtlCol="0" anchor="t"/>
          <a:lstStyle/>
          <a:p>
            <a:pPr indent="0" marL="0">
              <a:buNone/>
            </a:pPr>
            <a:r>
              <a:rPr lang="en-US" sz="1100" dirty="0">
                <a:solidFill>
                  <a:schemeClr val="tx1"/>
                </a:solidFill>
              </a:rPr>
              <a:t>Los más afectados: olvidan su contraseña y no saben el estado de sus solicitudes</a:t>
            </a:r>
            <a:endParaRPr lang="en-US" sz="1100" dirty="0"/>
          </a:p>
        </p:txBody>
      </p:sp>
      <p:sp>
        <p:nvSpPr>
          <p:cNvPr id="9" name="Docentes card"/>
          <p:cNvSpPr/>
          <p:nvPr/>
        </p:nvSpPr>
        <p:spPr>
          <a:xfrm>
            <a:off x="2788920" y="1371600"/>
            <a:ext cx="2148840" cy="1508760"/>
          </a:xfrm>
          <a:prstGeom prst="roundRect">
            <a:avLst>
              <a:gd name="adj" fmla="val 4848"/>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0" name="Docentes circle"/>
          <p:cNvSpPr/>
          <p:nvPr/>
        </p:nvSpPr>
        <p:spPr>
          <a:xfrm>
            <a:off x="2971800" y="1554480"/>
            <a:ext cx="502920" cy="502920"/>
          </a:xfrm>
          <a:prstGeom prst="ellipse">
            <a:avLst/>
          </a:prstGeom>
          <a:solidFill>
            <a:srgbClr val="2A9D8F"/>
          </a:solidFill>
          <a:ln/>
        </p:spPr>
      </p:sp>
      <p:pic>
        <p:nvPicPr>
          <p:cNvPr id="11" name="Docentes icon" descr="Docentes">    </p:cNvPr>
          <p:cNvPicPr>
            <a:picLocks noChangeAspect="1"/>
          </p:cNvPicPr>
          <p:nvPr/>
        </p:nvPicPr>
        <p:blipFill>
          <a:blip r:embed="rId2"/>
          <a:stretch>
            <a:fillRect/>
          </a:stretch>
        </p:blipFill>
        <p:spPr>
          <a:xfrm>
            <a:off x="3092501" y="1675181"/>
            <a:ext cx="261518" cy="261518"/>
          </a:xfrm>
          <a:prstGeom prst="rect">
            <a:avLst/>
          </a:prstGeom>
        </p:spPr>
      </p:pic>
      <p:sp>
        <p:nvSpPr>
          <p:cNvPr id="12" name="Text 8"/>
          <p:cNvSpPr txBox="1"/>
          <p:nvPr/>
        </p:nvSpPr>
        <p:spPr>
          <a:xfrm>
            <a:off x="3566160" y="1645920"/>
            <a:ext cx="1280160" cy="320040"/>
          </a:xfrm>
          <a:prstGeom prst="rect">
            <a:avLst/>
          </a:prstGeom>
          <a:noFill/>
          <a:ln/>
        </p:spPr>
        <p:txBody>
          <a:bodyPr wrap="square" lIns="0" tIns="0" rIns="0" bIns="0" rtlCol="0" anchor="ctr"/>
          <a:lstStyle/>
          <a:p>
            <a:pPr indent="0" marL="0">
              <a:buNone/>
            </a:pPr>
            <a:r>
              <a:rPr lang="en-US" sz="1500" b="1" dirty="0">
                <a:solidFill>
                  <a:schemeClr val="tx2"/>
                </a:solidFill>
              </a:rPr>
              <a:t>Docentes</a:t>
            </a:r>
            <a:endParaRPr lang="en-US" sz="1500" dirty="0"/>
          </a:p>
        </p:txBody>
      </p:sp>
      <p:sp>
        <p:nvSpPr>
          <p:cNvPr id="13" name="Text 9"/>
          <p:cNvSpPr txBox="1"/>
          <p:nvPr/>
        </p:nvSpPr>
        <p:spPr>
          <a:xfrm>
            <a:off x="2971800" y="2148840"/>
            <a:ext cx="1783080" cy="685800"/>
          </a:xfrm>
          <a:prstGeom prst="rect">
            <a:avLst/>
          </a:prstGeom>
          <a:noFill/>
          <a:ln/>
        </p:spPr>
        <p:txBody>
          <a:bodyPr wrap="square" lIns="0" tIns="0" rIns="0" bIns="0" rtlCol="0" anchor="t"/>
          <a:lstStyle/>
          <a:p>
            <a:pPr indent="0" marL="0">
              <a:buNone/>
            </a:pPr>
            <a:r>
              <a:rPr lang="en-US" sz="1100" dirty="0">
                <a:solidFill>
                  <a:schemeClr val="tx1"/>
                </a:solidFill>
              </a:rPr>
              <a:t>Reportan fallas por WhatsApp, fuera de cualquier registro</a:t>
            </a:r>
            <a:endParaRPr lang="en-US" sz="1100" dirty="0"/>
          </a:p>
        </p:txBody>
      </p:sp>
      <p:sp>
        <p:nvSpPr>
          <p:cNvPr id="14" name="Secretaría card"/>
          <p:cNvSpPr/>
          <p:nvPr/>
        </p:nvSpPr>
        <p:spPr>
          <a:xfrm>
            <a:off x="457200" y="3063240"/>
            <a:ext cx="2148840" cy="1508760"/>
          </a:xfrm>
          <a:prstGeom prst="roundRect">
            <a:avLst>
              <a:gd name="adj" fmla="val 4848"/>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5" name="Secretaría circle"/>
          <p:cNvSpPr/>
          <p:nvPr/>
        </p:nvSpPr>
        <p:spPr>
          <a:xfrm>
            <a:off x="640080" y="3246120"/>
            <a:ext cx="502920" cy="502920"/>
          </a:xfrm>
          <a:prstGeom prst="ellipse">
            <a:avLst/>
          </a:prstGeom>
          <a:solidFill>
            <a:srgbClr val="2A9D8F"/>
          </a:solidFill>
          <a:ln/>
        </p:spPr>
      </p:sp>
      <p:pic>
        <p:nvPicPr>
          <p:cNvPr id="16" name="Secretaría icon" descr="Secretaría">    </p:cNvPr>
          <p:cNvPicPr>
            <a:picLocks noChangeAspect="1"/>
          </p:cNvPicPr>
          <p:nvPr/>
        </p:nvPicPr>
        <p:blipFill>
          <a:blip r:embed="rId3"/>
          <a:stretch>
            <a:fillRect/>
          </a:stretch>
        </p:blipFill>
        <p:spPr>
          <a:xfrm>
            <a:off x="760781" y="3366821"/>
            <a:ext cx="261518" cy="261518"/>
          </a:xfrm>
          <a:prstGeom prst="rect">
            <a:avLst/>
          </a:prstGeom>
        </p:spPr>
      </p:pic>
      <p:sp>
        <p:nvSpPr>
          <p:cNvPr id="17" name="Text 12"/>
          <p:cNvSpPr txBox="1"/>
          <p:nvPr/>
        </p:nvSpPr>
        <p:spPr>
          <a:xfrm>
            <a:off x="1234440" y="3337560"/>
            <a:ext cx="1280160" cy="320040"/>
          </a:xfrm>
          <a:prstGeom prst="rect">
            <a:avLst/>
          </a:prstGeom>
          <a:noFill/>
          <a:ln/>
        </p:spPr>
        <p:txBody>
          <a:bodyPr wrap="square" lIns="0" tIns="0" rIns="0" bIns="0" rtlCol="0" anchor="ctr"/>
          <a:lstStyle/>
          <a:p>
            <a:pPr indent="0" marL="0">
              <a:buNone/>
            </a:pPr>
            <a:r>
              <a:rPr lang="en-US" sz="1500" b="1" dirty="0">
                <a:solidFill>
                  <a:schemeClr val="tx2"/>
                </a:solidFill>
              </a:rPr>
              <a:t>Secretaría</a:t>
            </a:r>
            <a:endParaRPr lang="en-US" sz="1500" dirty="0"/>
          </a:p>
        </p:txBody>
      </p:sp>
      <p:sp>
        <p:nvSpPr>
          <p:cNvPr id="18" name="Text 13"/>
          <p:cNvSpPr txBox="1"/>
          <p:nvPr/>
        </p:nvSpPr>
        <p:spPr>
          <a:xfrm>
            <a:off x="640080" y="3840480"/>
            <a:ext cx="1783080" cy="685800"/>
          </a:xfrm>
          <a:prstGeom prst="rect">
            <a:avLst/>
          </a:prstGeom>
          <a:noFill/>
          <a:ln/>
        </p:spPr>
        <p:txBody>
          <a:bodyPr wrap="square" lIns="0" tIns="0" rIns="0" bIns="0" rtlCol="0" anchor="t"/>
          <a:lstStyle/>
          <a:p>
            <a:pPr indent="0" marL="0">
              <a:buNone/>
            </a:pPr>
            <a:r>
              <a:rPr lang="en-US" sz="1100" dirty="0">
                <a:solidFill>
                  <a:schemeClr val="tx1"/>
                </a:solidFill>
              </a:rPr>
              <a:t>Depende de la plataforma para trámites y datos académicos</a:t>
            </a:r>
            <a:endParaRPr lang="en-US" sz="1100" dirty="0"/>
          </a:p>
        </p:txBody>
      </p:sp>
      <p:sp>
        <p:nvSpPr>
          <p:cNvPr id="19" name="Coordinación card"/>
          <p:cNvSpPr/>
          <p:nvPr/>
        </p:nvSpPr>
        <p:spPr>
          <a:xfrm>
            <a:off x="2788920" y="3063240"/>
            <a:ext cx="2148840" cy="1508760"/>
          </a:xfrm>
          <a:prstGeom prst="roundRect">
            <a:avLst>
              <a:gd name="adj" fmla="val 4848"/>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20" name="Coordinación circle"/>
          <p:cNvSpPr/>
          <p:nvPr/>
        </p:nvSpPr>
        <p:spPr>
          <a:xfrm>
            <a:off x="2971800" y="3246120"/>
            <a:ext cx="502920" cy="502920"/>
          </a:xfrm>
          <a:prstGeom prst="ellipse">
            <a:avLst/>
          </a:prstGeom>
          <a:solidFill>
            <a:srgbClr val="2A9D8F"/>
          </a:solidFill>
          <a:ln/>
        </p:spPr>
      </p:sp>
      <p:pic>
        <p:nvPicPr>
          <p:cNvPr id="21" name="Coordinación icon" descr="Coordinación">    </p:cNvPr>
          <p:cNvPicPr>
            <a:picLocks noChangeAspect="1"/>
          </p:cNvPicPr>
          <p:nvPr/>
        </p:nvPicPr>
        <p:blipFill>
          <a:blip r:embed="rId4"/>
          <a:stretch>
            <a:fillRect/>
          </a:stretch>
        </p:blipFill>
        <p:spPr>
          <a:xfrm>
            <a:off x="3092501" y="3366821"/>
            <a:ext cx="261518" cy="261518"/>
          </a:xfrm>
          <a:prstGeom prst="rect">
            <a:avLst/>
          </a:prstGeom>
        </p:spPr>
      </p:pic>
      <p:sp>
        <p:nvSpPr>
          <p:cNvPr id="22" name="Text 16"/>
          <p:cNvSpPr txBox="1"/>
          <p:nvPr/>
        </p:nvSpPr>
        <p:spPr>
          <a:xfrm>
            <a:off x="3566160" y="3337560"/>
            <a:ext cx="1280160" cy="320040"/>
          </a:xfrm>
          <a:prstGeom prst="rect">
            <a:avLst/>
          </a:prstGeom>
          <a:noFill/>
          <a:ln/>
        </p:spPr>
        <p:txBody>
          <a:bodyPr wrap="square" lIns="0" tIns="0" rIns="0" bIns="0" rtlCol="0" anchor="ctr"/>
          <a:lstStyle/>
          <a:p>
            <a:pPr indent="0" marL="0">
              <a:buNone/>
            </a:pPr>
            <a:r>
              <a:rPr lang="en-US" sz="1500" b="1" dirty="0">
                <a:solidFill>
                  <a:schemeClr val="tx2"/>
                </a:solidFill>
              </a:rPr>
              <a:t>Coordinación</a:t>
            </a:r>
            <a:endParaRPr lang="en-US" sz="1500" dirty="0"/>
          </a:p>
        </p:txBody>
      </p:sp>
      <p:sp>
        <p:nvSpPr>
          <p:cNvPr id="23" name="Text 17"/>
          <p:cNvSpPr txBox="1"/>
          <p:nvPr/>
        </p:nvSpPr>
        <p:spPr>
          <a:xfrm>
            <a:off x="2971800" y="3840480"/>
            <a:ext cx="1783080" cy="685800"/>
          </a:xfrm>
          <a:prstGeom prst="rect">
            <a:avLst/>
          </a:prstGeom>
          <a:noFill/>
          <a:ln/>
        </p:spPr>
        <p:txBody>
          <a:bodyPr wrap="square" lIns="0" tIns="0" rIns="0" bIns="0" rtlCol="0" anchor="t"/>
          <a:lstStyle/>
          <a:p>
            <a:pPr indent="0" marL="0">
              <a:buNone/>
            </a:pPr>
            <a:r>
              <a:rPr lang="en-US" sz="1100" dirty="0">
                <a:solidFill>
                  <a:schemeClr val="tx1"/>
                </a:solidFill>
              </a:rPr>
              <a:t>Necesita información confiable para tomar decisiones</a:t>
            </a:r>
            <a:endParaRPr lang="en-US" sz="1100" dirty="0"/>
          </a:p>
        </p:txBody>
      </p:sp>
      <p:sp>
        <p:nvSpPr>
          <p:cNvPr id="24" name="quote panel"/>
          <p:cNvSpPr/>
          <p:nvPr/>
        </p:nvSpPr>
        <p:spPr>
          <a:xfrm>
            <a:off x="5349240" y="1371600"/>
            <a:ext cx="3337560" cy="3200400"/>
          </a:xfrm>
          <a:prstGeom prst="roundRect">
            <a:avLst>
              <a:gd name="adj" fmla="val 2286"/>
            </a:avLst>
          </a:prstGeom>
          <a:solidFill>
            <a:schemeClr val="bg2"/>
          </a:solidFill>
          <a:ln/>
        </p:spPr>
      </p:sp>
      <p:pic>
        <p:nvPicPr>
          <p:cNvPr id="25" name="quote icon" descr="Cita">    </p:cNvPr>
          <p:cNvPicPr>
            <a:picLocks noChangeAspect="1"/>
          </p:cNvPicPr>
          <p:nvPr/>
        </p:nvPicPr>
        <p:blipFill>
          <a:blip r:embed="rId5"/>
          <a:stretch>
            <a:fillRect/>
          </a:stretch>
        </p:blipFill>
        <p:spPr>
          <a:xfrm>
            <a:off x="5623560" y="1645920"/>
            <a:ext cx="411480" cy="411480"/>
          </a:xfrm>
          <a:prstGeom prst="rect">
            <a:avLst/>
          </a:prstGeom>
        </p:spPr>
      </p:pic>
      <p:sp>
        <p:nvSpPr>
          <p:cNvPr id="26" name="Text 19"/>
          <p:cNvSpPr txBox="1"/>
          <p:nvPr/>
        </p:nvSpPr>
        <p:spPr>
          <a:xfrm>
            <a:off x="5623560" y="2194560"/>
            <a:ext cx="2834640" cy="11887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El problema no es la plataforma académica: es cómo se atiende a quienes la usan.</a:t>
            </a:r>
            <a:endParaRPr lang="en-US" sz="1800" dirty="0"/>
          </a:p>
        </p:txBody>
      </p:sp>
      <p:sp>
        <p:nvSpPr>
          <p:cNvPr id="27" name="Text 20"/>
          <p:cNvSpPr txBox="1"/>
          <p:nvPr/>
        </p:nvSpPr>
        <p:spPr>
          <a:xfrm>
            <a:off x="5623560" y="3474720"/>
            <a:ext cx="2834640" cy="914400"/>
          </a:xfrm>
          <a:prstGeom prst="rect">
            <a:avLst/>
          </a:prstGeom>
          <a:noFill/>
          <a:ln/>
        </p:spPr>
        <p:txBody>
          <a:bodyPr wrap="square" lIns="0" tIns="0" rIns="0" bIns="0" rtlCol="0" anchor="t"/>
          <a:lstStyle/>
          <a:p>
            <a:pPr indent="0" marL="0">
              <a:buNone/>
            </a:pPr>
            <a:r>
              <a:rPr lang="en-US" sz="1300" dirty="0">
                <a:solidFill>
                  <a:schemeClr val="tx1"/>
                </a:solidFill>
              </a:rPr>
              <a:t>Cuando algo falla, no hay un canal claro para reportarlo ni forma de saber en qué estado está la solicitud.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DIAGNÓSTICO</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Hoy el soporte está disperso y sin seguimiento</a:t>
            </a:r>
            <a:endParaRPr lang="en-US" sz="2800" dirty="0"/>
          </a:p>
        </p:txBody>
      </p:sp>
      <p:sp>
        <p:nvSpPr>
          <p:cNvPr id="4" name="illustration panel"/>
          <p:cNvSpPr/>
          <p:nvPr/>
        </p:nvSpPr>
        <p:spPr>
          <a:xfrm>
            <a:off x="457200" y="1371600"/>
            <a:ext cx="3657600" cy="2606040"/>
          </a:xfrm>
          <a:prstGeom prst="roundRect">
            <a:avLst>
              <a:gd name="adj" fmla="val 2807"/>
            </a:avLst>
          </a:prstGeom>
          <a:solidFill>
            <a:schemeClr val="bg2"/>
          </a:solidFill>
          <a:ln/>
        </p:spPr>
      </p:sp>
      <p:sp>
        <p:nvSpPr>
          <p:cNvPr id="5" name="WhatsApp circle"/>
          <p:cNvSpPr/>
          <p:nvPr/>
        </p:nvSpPr>
        <p:spPr>
          <a:xfrm>
            <a:off x="685800" y="1600200"/>
            <a:ext cx="548640" cy="548640"/>
          </a:xfrm>
          <a:prstGeom prst="ellipse">
            <a:avLst/>
          </a:prstGeom>
          <a:solidFill>
            <a:srgbClr val="FFFFFF"/>
          </a:solidFill>
          <a:ln/>
        </p:spPr>
      </p:sp>
      <p:pic>
        <p:nvPicPr>
          <p:cNvPr id="6" name="WhatsApp icon" descr="WhatsApp">    </p:cNvPr>
          <p:cNvPicPr>
            <a:picLocks noChangeAspect="1"/>
          </p:cNvPicPr>
          <p:nvPr/>
        </p:nvPicPr>
        <p:blipFill>
          <a:blip r:embed="rId1"/>
          <a:stretch>
            <a:fillRect/>
          </a:stretch>
        </p:blipFill>
        <p:spPr>
          <a:xfrm>
            <a:off x="817474" y="1731874"/>
            <a:ext cx="285293" cy="285293"/>
          </a:xfrm>
          <a:prstGeom prst="rect">
            <a:avLst/>
          </a:prstGeom>
        </p:spPr>
      </p:pic>
      <p:sp>
        <p:nvSpPr>
          <p:cNvPr id="7" name="Text 4"/>
          <p:cNvSpPr txBox="1"/>
          <p:nvPr/>
        </p:nvSpPr>
        <p:spPr>
          <a:xfrm>
            <a:off x="548640" y="2148840"/>
            <a:ext cx="822960" cy="201168"/>
          </a:xfrm>
          <a:prstGeom prst="rect">
            <a:avLst/>
          </a:prstGeom>
          <a:noFill/>
          <a:ln/>
        </p:spPr>
        <p:txBody>
          <a:bodyPr wrap="square" lIns="0" tIns="0" rIns="0" bIns="0" rtlCol="0" anchor="t"/>
          <a:lstStyle/>
          <a:p>
            <a:pPr algn="ctr" indent="0" marL="0">
              <a:buNone/>
            </a:pPr>
            <a:r>
              <a:rPr lang="en-US" sz="900" dirty="0">
                <a:solidFill>
                  <a:schemeClr val="tx1"/>
                </a:solidFill>
              </a:rPr>
              <a:t>WhatsApp</a:t>
            </a:r>
            <a:endParaRPr lang="en-US" sz="900" dirty="0"/>
          </a:p>
        </p:txBody>
      </p:sp>
      <p:sp>
        <p:nvSpPr>
          <p:cNvPr id="8" name="flow WhatsApp"/>
          <p:cNvSpPr/>
          <p:nvPr/>
        </p:nvSpPr>
        <p:spPr>
          <a:xfrm>
            <a:off x="1325880" y="1874520"/>
            <a:ext cx="731520" cy="502920"/>
          </a:xfrm>
          <a:prstGeom prst="line">
            <a:avLst/>
          </a:prstGeom>
          <a:noFill/>
          <a:ln w="15875">
            <a:solidFill>
              <a:srgbClr val="6B7B80"/>
            </a:solidFill>
            <a:prstDash val="dash"/>
            <a:tailEnd type="triangle"/>
          </a:ln>
        </p:spPr>
      </p:sp>
      <p:sp>
        <p:nvSpPr>
          <p:cNvPr id="9" name="Correo circle"/>
          <p:cNvSpPr/>
          <p:nvPr/>
        </p:nvSpPr>
        <p:spPr>
          <a:xfrm>
            <a:off x="685800" y="2377440"/>
            <a:ext cx="548640" cy="548640"/>
          </a:xfrm>
          <a:prstGeom prst="ellipse">
            <a:avLst/>
          </a:prstGeom>
          <a:solidFill>
            <a:srgbClr val="FFFFFF"/>
          </a:solidFill>
          <a:ln/>
        </p:spPr>
      </p:sp>
      <p:pic>
        <p:nvPicPr>
          <p:cNvPr id="10" name="Correo icon" descr="Correo">    </p:cNvPr>
          <p:cNvPicPr>
            <a:picLocks noChangeAspect="1"/>
          </p:cNvPicPr>
          <p:nvPr/>
        </p:nvPicPr>
        <p:blipFill>
          <a:blip r:embed="rId2"/>
          <a:stretch>
            <a:fillRect/>
          </a:stretch>
        </p:blipFill>
        <p:spPr>
          <a:xfrm>
            <a:off x="817474" y="2509114"/>
            <a:ext cx="285293" cy="285293"/>
          </a:xfrm>
          <a:prstGeom prst="rect">
            <a:avLst/>
          </a:prstGeom>
        </p:spPr>
      </p:pic>
      <p:sp>
        <p:nvSpPr>
          <p:cNvPr id="11" name="Text 7"/>
          <p:cNvSpPr txBox="1"/>
          <p:nvPr/>
        </p:nvSpPr>
        <p:spPr>
          <a:xfrm>
            <a:off x="548640" y="2926080"/>
            <a:ext cx="822960" cy="201168"/>
          </a:xfrm>
          <a:prstGeom prst="rect">
            <a:avLst/>
          </a:prstGeom>
          <a:noFill/>
          <a:ln/>
        </p:spPr>
        <p:txBody>
          <a:bodyPr wrap="square" lIns="0" tIns="0" rIns="0" bIns="0" rtlCol="0" anchor="t"/>
          <a:lstStyle/>
          <a:p>
            <a:pPr algn="ctr" indent="0" marL="0">
              <a:buNone/>
            </a:pPr>
            <a:r>
              <a:rPr lang="en-US" sz="900" dirty="0">
                <a:solidFill>
                  <a:schemeClr val="tx1"/>
                </a:solidFill>
              </a:rPr>
              <a:t>Correo</a:t>
            </a:r>
            <a:endParaRPr lang="en-US" sz="900" dirty="0"/>
          </a:p>
        </p:txBody>
      </p:sp>
      <p:sp>
        <p:nvSpPr>
          <p:cNvPr id="12" name="flow Correo"/>
          <p:cNvSpPr/>
          <p:nvPr/>
        </p:nvSpPr>
        <p:spPr>
          <a:xfrm flipV="1">
            <a:off x="1325880" y="2377440"/>
            <a:ext cx="731520" cy="274320"/>
          </a:xfrm>
          <a:prstGeom prst="line">
            <a:avLst/>
          </a:prstGeom>
          <a:noFill/>
          <a:ln w="15875">
            <a:solidFill>
              <a:srgbClr val="6B7B80"/>
            </a:solidFill>
            <a:prstDash val="dash"/>
            <a:tailEnd type="triangle"/>
          </a:ln>
        </p:spPr>
      </p:sp>
      <p:sp>
        <p:nvSpPr>
          <p:cNvPr id="13" name="Excel circle"/>
          <p:cNvSpPr/>
          <p:nvPr/>
        </p:nvSpPr>
        <p:spPr>
          <a:xfrm>
            <a:off x="685800" y="3154680"/>
            <a:ext cx="548640" cy="548640"/>
          </a:xfrm>
          <a:prstGeom prst="ellipse">
            <a:avLst/>
          </a:prstGeom>
          <a:solidFill>
            <a:srgbClr val="FFFFFF"/>
          </a:solidFill>
          <a:ln/>
        </p:spPr>
      </p:sp>
      <p:pic>
        <p:nvPicPr>
          <p:cNvPr id="14" name="Excel icon" descr="Excel">    </p:cNvPr>
          <p:cNvPicPr>
            <a:picLocks noChangeAspect="1"/>
          </p:cNvPicPr>
          <p:nvPr/>
        </p:nvPicPr>
        <p:blipFill>
          <a:blip r:embed="rId3"/>
          <a:stretch>
            <a:fillRect/>
          </a:stretch>
        </p:blipFill>
        <p:spPr>
          <a:xfrm>
            <a:off x="817474" y="3286354"/>
            <a:ext cx="285293" cy="285293"/>
          </a:xfrm>
          <a:prstGeom prst="rect">
            <a:avLst/>
          </a:prstGeom>
        </p:spPr>
      </p:pic>
      <p:sp>
        <p:nvSpPr>
          <p:cNvPr id="15" name="Text 10"/>
          <p:cNvSpPr txBox="1"/>
          <p:nvPr/>
        </p:nvSpPr>
        <p:spPr>
          <a:xfrm>
            <a:off x="548640" y="3703320"/>
            <a:ext cx="822960" cy="201168"/>
          </a:xfrm>
          <a:prstGeom prst="rect">
            <a:avLst/>
          </a:prstGeom>
          <a:noFill/>
          <a:ln/>
        </p:spPr>
        <p:txBody>
          <a:bodyPr wrap="square" lIns="0" tIns="0" rIns="0" bIns="0" rtlCol="0" anchor="t"/>
          <a:lstStyle/>
          <a:p>
            <a:pPr algn="ctr" indent="0" marL="0">
              <a:buNone/>
            </a:pPr>
            <a:r>
              <a:rPr lang="en-US" sz="900" dirty="0">
                <a:solidFill>
                  <a:schemeClr val="tx1"/>
                </a:solidFill>
              </a:rPr>
              <a:t>Excel</a:t>
            </a:r>
            <a:endParaRPr lang="en-US" sz="900" dirty="0"/>
          </a:p>
        </p:txBody>
      </p:sp>
      <p:sp>
        <p:nvSpPr>
          <p:cNvPr id="16" name="flow Excel"/>
          <p:cNvSpPr/>
          <p:nvPr/>
        </p:nvSpPr>
        <p:spPr>
          <a:xfrm flipV="1">
            <a:off x="1325880" y="2377440"/>
            <a:ext cx="731520" cy="1051560"/>
          </a:xfrm>
          <a:prstGeom prst="line">
            <a:avLst/>
          </a:prstGeom>
          <a:noFill/>
          <a:ln w="15875">
            <a:solidFill>
              <a:srgbClr val="6B7B80"/>
            </a:solidFill>
            <a:prstDash val="dash"/>
            <a:tailEnd type="triangle"/>
          </a:ln>
        </p:spPr>
      </p:sp>
      <p:sp>
        <p:nvSpPr>
          <p:cNvPr id="17" name="Soporte circle"/>
          <p:cNvSpPr/>
          <p:nvPr/>
        </p:nvSpPr>
        <p:spPr>
          <a:xfrm>
            <a:off x="2103120" y="2057400"/>
            <a:ext cx="640080" cy="640080"/>
          </a:xfrm>
          <a:prstGeom prst="ellipse">
            <a:avLst/>
          </a:prstGeom>
          <a:solidFill>
            <a:srgbClr val="264653"/>
          </a:solidFill>
          <a:ln/>
        </p:spPr>
      </p:sp>
      <p:pic>
        <p:nvPicPr>
          <p:cNvPr id="18" name="Soporte icon" descr="Soporte">    </p:cNvPr>
          <p:cNvPicPr>
            <a:picLocks noChangeAspect="1"/>
          </p:cNvPicPr>
          <p:nvPr/>
        </p:nvPicPr>
        <p:blipFill>
          <a:blip r:embed="rId4"/>
          <a:stretch>
            <a:fillRect/>
          </a:stretch>
        </p:blipFill>
        <p:spPr>
          <a:xfrm>
            <a:off x="2256739" y="2211019"/>
            <a:ext cx="332842" cy="332842"/>
          </a:xfrm>
          <a:prstGeom prst="rect">
            <a:avLst/>
          </a:prstGeom>
        </p:spPr>
      </p:pic>
      <p:sp>
        <p:nvSpPr>
          <p:cNvPr id="19" name="Text 13"/>
          <p:cNvSpPr txBox="1"/>
          <p:nvPr/>
        </p:nvSpPr>
        <p:spPr>
          <a:xfrm>
            <a:off x="1965960" y="2715768"/>
            <a:ext cx="914400" cy="201168"/>
          </a:xfrm>
          <a:prstGeom prst="rect">
            <a:avLst/>
          </a:prstGeom>
          <a:noFill/>
          <a:ln/>
        </p:spPr>
        <p:txBody>
          <a:bodyPr wrap="square" lIns="0" tIns="0" rIns="0" bIns="0" rtlCol="0" anchor="t"/>
          <a:lstStyle/>
          <a:p>
            <a:pPr algn="ctr" indent="0" marL="0">
              <a:buNone/>
            </a:pPr>
            <a:r>
              <a:rPr lang="en-US" sz="900" dirty="0">
                <a:solidFill>
                  <a:schemeClr val="tx1"/>
                </a:solidFill>
              </a:rPr>
              <a:t>Soporte</a:t>
            </a:r>
            <a:endParaRPr lang="en-US" sz="900" dirty="0"/>
          </a:p>
        </p:txBody>
      </p:sp>
      <p:sp>
        <p:nvSpPr>
          <p:cNvPr id="20" name="to unknown"/>
          <p:cNvSpPr/>
          <p:nvPr/>
        </p:nvSpPr>
        <p:spPr>
          <a:xfrm>
            <a:off x="2788920" y="2377440"/>
            <a:ext cx="411480" cy="0"/>
          </a:xfrm>
          <a:prstGeom prst="line">
            <a:avLst/>
          </a:prstGeom>
          <a:noFill/>
          <a:ln w="19050">
            <a:solidFill>
              <a:srgbClr val="6B7B80"/>
            </a:solidFill>
            <a:prstDash val="solid"/>
            <a:tailEnd type="triangle"/>
          </a:ln>
        </p:spPr>
      </p:sp>
      <p:sp>
        <p:nvSpPr>
          <p:cNvPr id="21" name="Estado desconocido circle"/>
          <p:cNvSpPr/>
          <p:nvPr/>
        </p:nvSpPr>
        <p:spPr>
          <a:xfrm>
            <a:off x="3246120" y="2103120"/>
            <a:ext cx="548640" cy="548640"/>
          </a:xfrm>
          <a:prstGeom prst="ellipse">
            <a:avLst/>
          </a:prstGeom>
          <a:solidFill>
            <a:srgbClr val="E76F51"/>
          </a:solidFill>
          <a:ln/>
        </p:spPr>
      </p:sp>
      <p:pic>
        <p:nvPicPr>
          <p:cNvPr id="22" name="Estado desconocido icon" descr="Estado desconocido">    </p:cNvPr>
          <p:cNvPicPr>
            <a:picLocks noChangeAspect="1"/>
          </p:cNvPicPr>
          <p:nvPr/>
        </p:nvPicPr>
        <p:blipFill>
          <a:blip r:embed="rId5"/>
          <a:stretch>
            <a:fillRect/>
          </a:stretch>
        </p:blipFill>
        <p:spPr>
          <a:xfrm>
            <a:off x="3377794" y="2234794"/>
            <a:ext cx="285293" cy="285293"/>
          </a:xfrm>
          <a:prstGeom prst="rect">
            <a:avLst/>
          </a:prstGeom>
        </p:spPr>
      </p:pic>
      <p:sp>
        <p:nvSpPr>
          <p:cNvPr id="23" name="Text 16"/>
          <p:cNvSpPr txBox="1"/>
          <p:nvPr/>
        </p:nvSpPr>
        <p:spPr>
          <a:xfrm>
            <a:off x="3063240" y="2697480"/>
            <a:ext cx="914400" cy="201168"/>
          </a:xfrm>
          <a:prstGeom prst="rect">
            <a:avLst/>
          </a:prstGeom>
          <a:noFill/>
          <a:ln/>
        </p:spPr>
        <p:txBody>
          <a:bodyPr wrap="square" lIns="0" tIns="0" rIns="0" bIns="0" rtlCol="0" anchor="t"/>
          <a:lstStyle/>
          <a:p>
            <a:pPr algn="ctr" indent="0" marL="0">
              <a:buNone/>
            </a:pPr>
            <a:r>
              <a:rPr lang="en-US" sz="900" dirty="0">
                <a:solidFill>
                  <a:schemeClr val="tx1"/>
                </a:solidFill>
              </a:rPr>
              <a:t>¿Estado?</a:t>
            </a:r>
            <a:endParaRPr lang="en-US" sz="900" dirty="0"/>
          </a:p>
        </p:txBody>
      </p:sp>
      <p:sp>
        <p:nvSpPr>
          <p:cNvPr id="24" name="Canales dispersos circle"/>
          <p:cNvSpPr/>
          <p:nvPr/>
        </p:nvSpPr>
        <p:spPr>
          <a:xfrm>
            <a:off x="4434840" y="1417320"/>
            <a:ext cx="502920" cy="502920"/>
          </a:xfrm>
          <a:prstGeom prst="ellipse">
            <a:avLst/>
          </a:prstGeom>
          <a:solidFill>
            <a:srgbClr val="E76F51"/>
          </a:solidFill>
          <a:ln/>
        </p:spPr>
      </p:sp>
      <p:pic>
        <p:nvPicPr>
          <p:cNvPr id="25" name="Canales dispersos icon" descr="Canales dispersos">    </p:cNvPr>
          <p:cNvPicPr>
            <a:picLocks noChangeAspect="1"/>
          </p:cNvPicPr>
          <p:nvPr/>
        </p:nvPicPr>
        <p:blipFill>
          <a:blip r:embed="rId6"/>
          <a:stretch>
            <a:fillRect/>
          </a:stretch>
        </p:blipFill>
        <p:spPr>
          <a:xfrm>
            <a:off x="4555541" y="1538021"/>
            <a:ext cx="261518" cy="261518"/>
          </a:xfrm>
          <a:prstGeom prst="rect">
            <a:avLst/>
          </a:prstGeom>
        </p:spPr>
      </p:pic>
      <p:sp>
        <p:nvSpPr>
          <p:cNvPr id="26" name="Text 18"/>
          <p:cNvSpPr txBox="1"/>
          <p:nvPr/>
        </p:nvSpPr>
        <p:spPr>
          <a:xfrm>
            <a:off x="5120640" y="1371600"/>
            <a:ext cx="3566160" cy="274320"/>
          </a:xfrm>
          <a:prstGeom prst="rect">
            <a:avLst/>
          </a:prstGeom>
          <a:noFill/>
          <a:ln/>
        </p:spPr>
        <p:txBody>
          <a:bodyPr wrap="square" lIns="0" tIns="0" rIns="0" bIns="0" rtlCol="0" anchor="t"/>
          <a:lstStyle/>
          <a:p>
            <a:pPr indent="0" marL="0">
              <a:buNone/>
            </a:pPr>
            <a:r>
              <a:rPr lang="en-US" sz="1500" b="1" dirty="0">
                <a:solidFill>
                  <a:schemeClr val="tx2"/>
                </a:solidFill>
              </a:rPr>
              <a:t>Canales dispersos</a:t>
            </a:r>
            <a:endParaRPr lang="en-US" sz="1500" dirty="0"/>
          </a:p>
        </p:txBody>
      </p:sp>
      <p:sp>
        <p:nvSpPr>
          <p:cNvPr id="27" name="Text 19"/>
          <p:cNvSpPr txBox="1"/>
          <p:nvPr/>
        </p:nvSpPr>
        <p:spPr>
          <a:xfrm>
            <a:off x="5120640" y="1664208"/>
            <a:ext cx="3566160" cy="548640"/>
          </a:xfrm>
          <a:prstGeom prst="rect">
            <a:avLst/>
          </a:prstGeom>
          <a:noFill/>
          <a:ln/>
        </p:spPr>
        <p:txBody>
          <a:bodyPr wrap="square" lIns="0" tIns="0" rIns="0" bIns="0" rtlCol="0" anchor="t"/>
          <a:lstStyle/>
          <a:p>
            <a:pPr indent="0" marL="0">
              <a:buNone/>
            </a:pPr>
            <a:r>
              <a:rPr lang="en-US" sz="1200" dirty="0">
                <a:solidFill>
                  <a:schemeClr val="tx1"/>
                </a:solidFill>
              </a:rPr>
              <a:t>WhatsApp, correo y Excel conviven; no existe un sistema único de tickets.</a:t>
            </a:r>
            <a:endParaRPr lang="en-US" sz="1200" dirty="0"/>
          </a:p>
        </p:txBody>
      </p:sp>
      <p:sp>
        <p:nvSpPr>
          <p:cNvPr id="28" name="Usuarios a ciegas circle"/>
          <p:cNvSpPr/>
          <p:nvPr/>
        </p:nvSpPr>
        <p:spPr>
          <a:xfrm>
            <a:off x="4434840" y="2313432"/>
            <a:ext cx="502920" cy="502920"/>
          </a:xfrm>
          <a:prstGeom prst="ellipse">
            <a:avLst/>
          </a:prstGeom>
          <a:solidFill>
            <a:srgbClr val="E76F51"/>
          </a:solidFill>
          <a:ln/>
        </p:spPr>
      </p:sp>
      <p:pic>
        <p:nvPicPr>
          <p:cNvPr id="29" name="Usuarios a ciegas icon" descr="Usuarios a ciegas">    </p:cNvPr>
          <p:cNvPicPr>
            <a:picLocks noChangeAspect="1"/>
          </p:cNvPicPr>
          <p:nvPr/>
        </p:nvPicPr>
        <p:blipFill>
          <a:blip r:embed="rId7"/>
          <a:stretch>
            <a:fillRect/>
          </a:stretch>
        </p:blipFill>
        <p:spPr>
          <a:xfrm>
            <a:off x="4555541" y="2434133"/>
            <a:ext cx="261518" cy="261518"/>
          </a:xfrm>
          <a:prstGeom prst="rect">
            <a:avLst/>
          </a:prstGeom>
        </p:spPr>
      </p:pic>
      <p:sp>
        <p:nvSpPr>
          <p:cNvPr id="30" name="Text 21"/>
          <p:cNvSpPr txBox="1"/>
          <p:nvPr/>
        </p:nvSpPr>
        <p:spPr>
          <a:xfrm>
            <a:off x="5120640" y="2267712"/>
            <a:ext cx="3566160" cy="274320"/>
          </a:xfrm>
          <a:prstGeom prst="rect">
            <a:avLst/>
          </a:prstGeom>
          <a:noFill/>
          <a:ln/>
        </p:spPr>
        <p:txBody>
          <a:bodyPr wrap="square" lIns="0" tIns="0" rIns="0" bIns="0" rtlCol="0" anchor="t"/>
          <a:lstStyle/>
          <a:p>
            <a:pPr indent="0" marL="0">
              <a:buNone/>
            </a:pPr>
            <a:r>
              <a:rPr lang="en-US" sz="1500" b="1" dirty="0">
                <a:solidFill>
                  <a:schemeClr val="tx2"/>
                </a:solidFill>
              </a:rPr>
              <a:t>Usuarios a ciegas</a:t>
            </a:r>
            <a:endParaRPr lang="en-US" sz="1500" dirty="0"/>
          </a:p>
        </p:txBody>
      </p:sp>
      <p:sp>
        <p:nvSpPr>
          <p:cNvPr id="31" name="Text 22"/>
          <p:cNvSpPr txBox="1"/>
          <p:nvPr/>
        </p:nvSpPr>
        <p:spPr>
          <a:xfrm>
            <a:off x="5120640" y="2560320"/>
            <a:ext cx="3566160" cy="548640"/>
          </a:xfrm>
          <a:prstGeom prst="rect">
            <a:avLst/>
          </a:prstGeom>
          <a:noFill/>
          <a:ln/>
        </p:spPr>
        <p:txBody>
          <a:bodyPr wrap="square" lIns="0" tIns="0" rIns="0" bIns="0" rtlCol="0" anchor="t"/>
          <a:lstStyle/>
          <a:p>
            <a:pPr indent="0" marL="0">
              <a:buNone/>
            </a:pPr>
            <a:r>
              <a:rPr lang="en-US" sz="1200" dirty="0">
                <a:solidFill>
                  <a:schemeClr val="tx1"/>
                </a:solidFill>
              </a:rPr>
              <a:t>Nadie sabe en qué estado está su solicitud; recuperar contraseñas es un problema recurrente.</a:t>
            </a:r>
            <a:endParaRPr lang="en-US" sz="1200" dirty="0"/>
          </a:p>
        </p:txBody>
      </p:sp>
      <p:sp>
        <p:nvSpPr>
          <p:cNvPr id="32" name="Decisiones sin datos circle"/>
          <p:cNvSpPr/>
          <p:nvPr/>
        </p:nvSpPr>
        <p:spPr>
          <a:xfrm>
            <a:off x="4434840" y="3209544"/>
            <a:ext cx="502920" cy="502920"/>
          </a:xfrm>
          <a:prstGeom prst="ellipse">
            <a:avLst/>
          </a:prstGeom>
          <a:solidFill>
            <a:srgbClr val="E76F51"/>
          </a:solidFill>
          <a:ln/>
        </p:spPr>
      </p:sp>
      <p:pic>
        <p:nvPicPr>
          <p:cNvPr id="33" name="Decisiones sin datos icon" descr="Decisiones sin datos">    </p:cNvPr>
          <p:cNvPicPr>
            <a:picLocks noChangeAspect="1"/>
          </p:cNvPicPr>
          <p:nvPr/>
        </p:nvPicPr>
        <p:blipFill>
          <a:blip r:embed="rId8"/>
          <a:stretch>
            <a:fillRect/>
          </a:stretch>
        </p:blipFill>
        <p:spPr>
          <a:xfrm>
            <a:off x="4555541" y="3330245"/>
            <a:ext cx="261518" cy="261518"/>
          </a:xfrm>
          <a:prstGeom prst="rect">
            <a:avLst/>
          </a:prstGeom>
        </p:spPr>
      </p:pic>
      <p:sp>
        <p:nvSpPr>
          <p:cNvPr id="34" name="Text 24"/>
          <p:cNvSpPr txBox="1"/>
          <p:nvPr/>
        </p:nvSpPr>
        <p:spPr>
          <a:xfrm>
            <a:off x="5120640" y="3163824"/>
            <a:ext cx="3566160" cy="274320"/>
          </a:xfrm>
          <a:prstGeom prst="rect">
            <a:avLst/>
          </a:prstGeom>
          <a:noFill/>
          <a:ln/>
        </p:spPr>
        <p:txBody>
          <a:bodyPr wrap="square" lIns="0" tIns="0" rIns="0" bIns="0" rtlCol="0" anchor="t"/>
          <a:lstStyle/>
          <a:p>
            <a:pPr indent="0" marL="0">
              <a:buNone/>
            </a:pPr>
            <a:r>
              <a:rPr lang="en-US" sz="1500" b="1" dirty="0">
                <a:solidFill>
                  <a:schemeClr val="tx2"/>
                </a:solidFill>
              </a:rPr>
              <a:t>Decisiones sin datos</a:t>
            </a:r>
            <a:endParaRPr lang="en-US" sz="1500" dirty="0"/>
          </a:p>
        </p:txBody>
      </p:sp>
      <p:sp>
        <p:nvSpPr>
          <p:cNvPr id="35" name="Text 25"/>
          <p:cNvSpPr txBox="1"/>
          <p:nvPr/>
        </p:nvSpPr>
        <p:spPr>
          <a:xfrm>
            <a:off x="5120640" y="3456432"/>
            <a:ext cx="3566160" cy="548640"/>
          </a:xfrm>
          <a:prstGeom prst="rect">
            <a:avLst/>
          </a:prstGeom>
          <a:noFill/>
          <a:ln/>
        </p:spPr>
        <p:txBody>
          <a:bodyPr wrap="square" lIns="0" tIns="0" rIns="0" bIns="0" rtlCol="0" anchor="t"/>
          <a:lstStyle/>
          <a:p>
            <a:pPr indent="0" marL="0">
              <a:buNone/>
            </a:pPr>
            <a:r>
              <a:rPr lang="en-US" sz="1200" dirty="0">
                <a:solidFill>
                  <a:schemeClr val="tx1"/>
                </a:solidFill>
              </a:rPr>
              <a:t>Se quiere comprar e implementar todo de golpe sin haber consultado a los usuarios.</a:t>
            </a:r>
            <a:endParaRPr lang="en-US" sz="1200" dirty="0"/>
          </a:p>
        </p:txBody>
      </p:sp>
      <p:sp>
        <p:nvSpPr>
          <p:cNvPr id="36" name="Text 26"/>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b="1" dirty="0">
                <a:solidFill>
                  <a:schemeClr val="accent3"/>
                </a:solidFill>
              </a:rPr>
              <a:t>Resultado: </a:t>
            </a:r>
            <a:pPr indent="0" marL="0">
              <a:buNone/>
            </a:pPr>
            <a:r>
              <a:rPr lang="en-US" sz="1300" dirty="0">
                <a:solidFill>
                  <a:schemeClr val="tx1"/>
                </a:solidFill>
              </a:rPr>
              <a:t>solicitudes perdidas o duplicadas, cero métricas y usuarios que no confían en el soporte.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EL PUNTO CRÍTICO</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¿Comprar una plataforma nueva? Todavía no</a:t>
            </a:r>
            <a:endParaRPr lang="en-US" sz="2800" dirty="0"/>
          </a:p>
        </p:txBody>
      </p:sp>
      <p:sp>
        <p:nvSpPr>
          <p:cNvPr id="4" name="Lo que propone la dirección"/>
          <p:cNvSpPr/>
          <p:nvPr/>
        </p:nvSpPr>
        <p:spPr>
          <a:xfrm>
            <a:off x="457200" y="1371600"/>
            <a:ext cx="3886200" cy="2331720"/>
          </a:xfrm>
          <a:prstGeom prst="roundRect">
            <a:avLst>
              <a:gd name="adj" fmla="val 3137"/>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5" name="Lo que propone la dirección circle"/>
          <p:cNvSpPr/>
          <p:nvPr/>
        </p:nvSpPr>
        <p:spPr>
          <a:xfrm>
            <a:off x="685800" y="1554480"/>
            <a:ext cx="548640" cy="548640"/>
          </a:xfrm>
          <a:prstGeom prst="ellipse">
            <a:avLst/>
          </a:prstGeom>
          <a:solidFill>
            <a:srgbClr val="E76F51"/>
          </a:solidFill>
          <a:ln/>
        </p:spPr>
      </p:sp>
      <p:pic>
        <p:nvPicPr>
          <p:cNvPr id="6" name="Lo que propone la dirección icon" descr="Lo que propone la dirección">    </p:cNvPr>
          <p:cNvPicPr>
            <a:picLocks noChangeAspect="1"/>
          </p:cNvPicPr>
          <p:nvPr/>
        </p:nvPicPr>
        <p:blipFill>
          <a:blip r:embed="rId1"/>
          <a:stretch>
            <a:fillRect/>
          </a:stretch>
        </p:blipFill>
        <p:spPr>
          <a:xfrm>
            <a:off x="817474" y="1686154"/>
            <a:ext cx="285293" cy="285293"/>
          </a:xfrm>
          <a:prstGeom prst="rect">
            <a:avLst/>
          </a:prstGeom>
        </p:spPr>
      </p:pic>
      <p:sp>
        <p:nvSpPr>
          <p:cNvPr id="7" name="Text 4"/>
          <p:cNvSpPr txBox="1"/>
          <p:nvPr/>
        </p:nvSpPr>
        <p:spPr>
          <a:xfrm>
            <a:off x="1371600" y="1554480"/>
            <a:ext cx="2834640" cy="548640"/>
          </a:xfrm>
          <a:prstGeom prst="rect">
            <a:avLst/>
          </a:prstGeom>
          <a:noFill/>
          <a:ln/>
        </p:spPr>
        <p:txBody>
          <a:bodyPr wrap="square" lIns="0" tIns="0" rIns="0" bIns="0" rtlCol="0" anchor="ctr"/>
          <a:lstStyle/>
          <a:p>
            <a:pPr indent="0" marL="0">
              <a:buNone/>
            </a:pPr>
            <a:r>
              <a:rPr lang="en-US" sz="1600" b="1" dirty="0">
                <a:solidFill>
                  <a:schemeClr val="tx2"/>
                </a:solidFill>
              </a:rPr>
              <a:t>Lo que propone la dirección</a:t>
            </a:r>
            <a:endParaRPr lang="en-US" sz="1600" dirty="0"/>
          </a:p>
        </p:txBody>
      </p:sp>
      <p:pic>
        <p:nvPicPr>
          <p:cNvPr id="8" name="mark" descr="preencoded.png">    </p:cNvPr>
          <p:cNvPicPr>
            <a:picLocks noChangeAspect="1"/>
          </p:cNvPicPr>
          <p:nvPr/>
        </p:nvPicPr>
        <p:blipFill>
          <a:blip r:embed="rId2"/>
          <a:stretch>
            <a:fillRect/>
          </a:stretch>
        </p:blipFill>
        <p:spPr>
          <a:xfrm>
            <a:off x="777240" y="2386584"/>
            <a:ext cx="201168" cy="201168"/>
          </a:xfrm>
          <a:prstGeom prst="rect">
            <a:avLst/>
          </a:prstGeom>
        </p:spPr>
      </p:pic>
      <p:sp>
        <p:nvSpPr>
          <p:cNvPr id="9" name="Text 5"/>
          <p:cNvSpPr txBox="1"/>
          <p:nvPr/>
        </p:nvSpPr>
        <p:spPr>
          <a:xfrm>
            <a:off x="1143000" y="2331720"/>
            <a:ext cx="3063240" cy="365760"/>
          </a:xfrm>
          <a:prstGeom prst="rect">
            <a:avLst/>
          </a:prstGeom>
          <a:noFill/>
          <a:ln/>
        </p:spPr>
        <p:txBody>
          <a:bodyPr wrap="square" lIns="0" tIns="0" rIns="0" bIns="0" rtlCol="0" anchor="ctr"/>
          <a:lstStyle/>
          <a:p>
            <a:pPr indent="0" marL="0">
              <a:buNone/>
            </a:pPr>
            <a:r>
              <a:rPr lang="en-US" sz="1300" dirty="0">
                <a:solidFill>
                  <a:schemeClr val="tx1"/>
                </a:solidFill>
              </a:rPr>
              <a:t>Comprar una plataforma nueva</a:t>
            </a:r>
            <a:endParaRPr lang="en-US" sz="1300" dirty="0"/>
          </a:p>
        </p:txBody>
      </p:sp>
      <p:pic>
        <p:nvPicPr>
          <p:cNvPr id="10" name="mark" descr="preencoded.png">    </p:cNvPr>
          <p:cNvPicPr>
            <a:picLocks noChangeAspect="1"/>
          </p:cNvPicPr>
          <p:nvPr/>
        </p:nvPicPr>
        <p:blipFill>
          <a:blip r:embed="rId3"/>
          <a:stretch>
            <a:fillRect/>
          </a:stretch>
        </p:blipFill>
        <p:spPr>
          <a:xfrm>
            <a:off x="777240" y="2816352"/>
            <a:ext cx="201168" cy="201168"/>
          </a:xfrm>
          <a:prstGeom prst="rect">
            <a:avLst/>
          </a:prstGeom>
        </p:spPr>
      </p:pic>
      <p:sp>
        <p:nvSpPr>
          <p:cNvPr id="11" name="Text 6"/>
          <p:cNvSpPr txBox="1"/>
          <p:nvPr/>
        </p:nvSpPr>
        <p:spPr>
          <a:xfrm>
            <a:off x="1143000" y="2761488"/>
            <a:ext cx="3063240" cy="365760"/>
          </a:xfrm>
          <a:prstGeom prst="rect">
            <a:avLst/>
          </a:prstGeom>
          <a:noFill/>
          <a:ln/>
        </p:spPr>
        <p:txBody>
          <a:bodyPr wrap="square" lIns="0" tIns="0" rIns="0" bIns="0" rtlCol="0" anchor="ctr"/>
          <a:lstStyle/>
          <a:p>
            <a:pPr indent="0" marL="0">
              <a:buNone/>
            </a:pPr>
            <a:r>
              <a:rPr lang="en-US" sz="1300" dirty="0">
                <a:solidFill>
                  <a:schemeClr val="tx1"/>
                </a:solidFill>
              </a:rPr>
              <a:t>Activar todas sus funciones de una vez</a:t>
            </a:r>
            <a:endParaRPr lang="en-US" sz="1300" dirty="0"/>
          </a:p>
        </p:txBody>
      </p:sp>
      <p:pic>
        <p:nvPicPr>
          <p:cNvPr id="12" name="mark" descr="preencoded.png">    </p:cNvPr>
          <p:cNvPicPr>
            <a:picLocks noChangeAspect="1"/>
          </p:cNvPicPr>
          <p:nvPr/>
        </p:nvPicPr>
        <p:blipFill>
          <a:blip r:embed="rId4"/>
          <a:stretch>
            <a:fillRect/>
          </a:stretch>
        </p:blipFill>
        <p:spPr>
          <a:xfrm>
            <a:off x="777240" y="3246120"/>
            <a:ext cx="201168" cy="201168"/>
          </a:xfrm>
          <a:prstGeom prst="rect">
            <a:avLst/>
          </a:prstGeom>
        </p:spPr>
      </p:pic>
      <p:sp>
        <p:nvSpPr>
          <p:cNvPr id="13" name="Text 7"/>
          <p:cNvSpPr txBox="1"/>
          <p:nvPr/>
        </p:nvSpPr>
        <p:spPr>
          <a:xfrm>
            <a:off x="1143000" y="3191256"/>
            <a:ext cx="3063240" cy="365760"/>
          </a:xfrm>
          <a:prstGeom prst="rect">
            <a:avLst/>
          </a:prstGeom>
          <a:noFill/>
          <a:ln/>
        </p:spPr>
        <p:txBody>
          <a:bodyPr wrap="square" lIns="0" tIns="0" rIns="0" bIns="0" rtlCol="0" anchor="ctr"/>
          <a:lstStyle/>
          <a:p>
            <a:pPr indent="0" marL="0">
              <a:buNone/>
            </a:pPr>
            <a:r>
              <a:rPr lang="en-US" sz="1300" dirty="0">
                <a:solidFill>
                  <a:schemeClr val="tx1"/>
                </a:solidFill>
              </a:rPr>
              <a:t>Sin consultar a los usuarios</a:t>
            </a:r>
            <a:endParaRPr lang="en-US" sz="1300" dirty="0"/>
          </a:p>
        </p:txBody>
      </p:sp>
      <p:sp>
        <p:nvSpPr>
          <p:cNvPr id="14" name="Lo que recomendamos"/>
          <p:cNvSpPr/>
          <p:nvPr/>
        </p:nvSpPr>
        <p:spPr>
          <a:xfrm>
            <a:off x="4800600" y="1371600"/>
            <a:ext cx="3886200" cy="2331720"/>
          </a:xfrm>
          <a:prstGeom prst="roundRect">
            <a:avLst>
              <a:gd name="adj" fmla="val 3137"/>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5" name="Lo que recomendamos circle"/>
          <p:cNvSpPr/>
          <p:nvPr/>
        </p:nvSpPr>
        <p:spPr>
          <a:xfrm>
            <a:off x="5029200" y="1554480"/>
            <a:ext cx="548640" cy="548640"/>
          </a:xfrm>
          <a:prstGeom prst="ellipse">
            <a:avLst/>
          </a:prstGeom>
          <a:solidFill>
            <a:srgbClr val="2A9D8F"/>
          </a:solidFill>
          <a:ln/>
        </p:spPr>
      </p:sp>
      <p:pic>
        <p:nvPicPr>
          <p:cNvPr id="16" name="Lo que recomendamos icon" descr="Lo que recomendamos">    </p:cNvPr>
          <p:cNvPicPr>
            <a:picLocks noChangeAspect="1"/>
          </p:cNvPicPr>
          <p:nvPr/>
        </p:nvPicPr>
        <p:blipFill>
          <a:blip r:embed="rId5"/>
          <a:stretch>
            <a:fillRect/>
          </a:stretch>
        </p:blipFill>
        <p:spPr>
          <a:xfrm>
            <a:off x="5160874" y="1686154"/>
            <a:ext cx="285293" cy="285293"/>
          </a:xfrm>
          <a:prstGeom prst="rect">
            <a:avLst/>
          </a:prstGeom>
        </p:spPr>
      </p:pic>
      <p:sp>
        <p:nvSpPr>
          <p:cNvPr id="17" name="Text 10"/>
          <p:cNvSpPr txBox="1"/>
          <p:nvPr/>
        </p:nvSpPr>
        <p:spPr>
          <a:xfrm>
            <a:off x="5715000" y="1554480"/>
            <a:ext cx="2834640" cy="548640"/>
          </a:xfrm>
          <a:prstGeom prst="rect">
            <a:avLst/>
          </a:prstGeom>
          <a:noFill/>
          <a:ln/>
        </p:spPr>
        <p:txBody>
          <a:bodyPr wrap="square" lIns="0" tIns="0" rIns="0" bIns="0" rtlCol="0" anchor="ctr"/>
          <a:lstStyle/>
          <a:p>
            <a:pPr indent="0" marL="0">
              <a:buNone/>
            </a:pPr>
            <a:r>
              <a:rPr lang="en-US" sz="1600" b="1" dirty="0">
                <a:solidFill>
                  <a:schemeClr val="tx2"/>
                </a:solidFill>
              </a:rPr>
              <a:t>Lo que recomendamos</a:t>
            </a:r>
            <a:endParaRPr lang="en-US" sz="1600" dirty="0"/>
          </a:p>
        </p:txBody>
      </p:sp>
      <p:pic>
        <p:nvPicPr>
          <p:cNvPr id="18" name="mark" descr="preencoded.png">    </p:cNvPr>
          <p:cNvPicPr>
            <a:picLocks noChangeAspect="1"/>
          </p:cNvPicPr>
          <p:nvPr/>
        </p:nvPicPr>
        <p:blipFill>
          <a:blip r:embed="rId6"/>
          <a:stretch>
            <a:fillRect/>
          </a:stretch>
        </p:blipFill>
        <p:spPr>
          <a:xfrm>
            <a:off x="5120640" y="2386584"/>
            <a:ext cx="201168" cy="201168"/>
          </a:xfrm>
          <a:prstGeom prst="rect">
            <a:avLst/>
          </a:prstGeom>
        </p:spPr>
      </p:pic>
      <p:sp>
        <p:nvSpPr>
          <p:cNvPr id="19" name="Text 11"/>
          <p:cNvSpPr txBox="1"/>
          <p:nvPr/>
        </p:nvSpPr>
        <p:spPr>
          <a:xfrm>
            <a:off x="5486400" y="2331720"/>
            <a:ext cx="3063240" cy="365760"/>
          </a:xfrm>
          <a:prstGeom prst="rect">
            <a:avLst/>
          </a:prstGeom>
          <a:noFill/>
          <a:ln/>
        </p:spPr>
        <p:txBody>
          <a:bodyPr wrap="square" lIns="0" tIns="0" rIns="0" bIns="0" rtlCol="0" anchor="ctr"/>
          <a:lstStyle/>
          <a:p>
            <a:pPr indent="0" marL="0">
              <a:buNone/>
            </a:pPr>
            <a:r>
              <a:rPr lang="en-US" sz="1300" dirty="0">
                <a:solidFill>
                  <a:schemeClr val="tx1"/>
                </a:solidFill>
              </a:rPr>
              <a:t>Pilotear con la herramienta gratuita que TI ya domina</a:t>
            </a:r>
            <a:endParaRPr lang="en-US" sz="1300" dirty="0"/>
          </a:p>
        </p:txBody>
      </p:sp>
      <p:pic>
        <p:nvPicPr>
          <p:cNvPr id="20" name="mark" descr="preencoded.png">    </p:cNvPr>
          <p:cNvPicPr>
            <a:picLocks noChangeAspect="1"/>
          </p:cNvPicPr>
          <p:nvPr/>
        </p:nvPicPr>
        <p:blipFill>
          <a:blip r:embed="rId7"/>
          <a:stretch>
            <a:fillRect/>
          </a:stretch>
        </p:blipFill>
        <p:spPr>
          <a:xfrm>
            <a:off x="5120640" y="2816352"/>
            <a:ext cx="201168" cy="201168"/>
          </a:xfrm>
          <a:prstGeom prst="rect">
            <a:avLst/>
          </a:prstGeom>
        </p:spPr>
      </p:pic>
      <p:sp>
        <p:nvSpPr>
          <p:cNvPr id="21" name="Text 12"/>
          <p:cNvSpPr txBox="1"/>
          <p:nvPr/>
        </p:nvSpPr>
        <p:spPr>
          <a:xfrm>
            <a:off x="5486400" y="2761488"/>
            <a:ext cx="3063240" cy="365760"/>
          </a:xfrm>
          <a:prstGeom prst="rect">
            <a:avLst/>
          </a:prstGeom>
          <a:noFill/>
          <a:ln/>
        </p:spPr>
        <p:txBody>
          <a:bodyPr wrap="square" lIns="0" tIns="0" rIns="0" bIns="0" rtlCol="0" anchor="ctr"/>
          <a:lstStyle/>
          <a:p>
            <a:pPr indent="0" marL="0">
              <a:buNone/>
            </a:pPr>
            <a:r>
              <a:rPr lang="en-US" sz="1300" dirty="0">
                <a:solidFill>
                  <a:schemeClr val="tx1"/>
                </a:solidFill>
              </a:rPr>
              <a:t>Implementar por etapas y medir resultados</a:t>
            </a:r>
            <a:endParaRPr lang="en-US" sz="1300" dirty="0"/>
          </a:p>
        </p:txBody>
      </p:sp>
      <p:pic>
        <p:nvPicPr>
          <p:cNvPr id="22" name="mark" descr="preencoded.png">    </p:cNvPr>
          <p:cNvPicPr>
            <a:picLocks noChangeAspect="1"/>
          </p:cNvPicPr>
          <p:nvPr/>
        </p:nvPicPr>
        <p:blipFill>
          <a:blip r:embed="rId8"/>
          <a:stretch>
            <a:fillRect/>
          </a:stretch>
        </p:blipFill>
        <p:spPr>
          <a:xfrm>
            <a:off x="5120640" y="3246120"/>
            <a:ext cx="201168" cy="201168"/>
          </a:xfrm>
          <a:prstGeom prst="rect">
            <a:avLst/>
          </a:prstGeom>
        </p:spPr>
      </p:pic>
      <p:sp>
        <p:nvSpPr>
          <p:cNvPr id="23" name="Text 13"/>
          <p:cNvSpPr txBox="1"/>
          <p:nvPr/>
        </p:nvSpPr>
        <p:spPr>
          <a:xfrm>
            <a:off x="5486400" y="3191256"/>
            <a:ext cx="3063240" cy="365760"/>
          </a:xfrm>
          <a:prstGeom prst="rect">
            <a:avLst/>
          </a:prstGeom>
          <a:noFill/>
          <a:ln/>
        </p:spPr>
        <p:txBody>
          <a:bodyPr wrap="square" lIns="0" tIns="0" rIns="0" bIns="0" rtlCol="0" anchor="ctr"/>
          <a:lstStyle/>
          <a:p>
            <a:pPr indent="0" marL="0">
              <a:buNone/>
            </a:pPr>
            <a:r>
              <a:rPr lang="en-US" sz="1300" dirty="0">
                <a:solidFill>
                  <a:schemeClr val="tx1"/>
                </a:solidFill>
              </a:rPr>
              <a:t>Decidir cualquier compra con datos reales</a:t>
            </a:r>
            <a:endParaRPr lang="en-US" sz="1300" dirty="0"/>
          </a:p>
        </p:txBody>
      </p:sp>
      <p:sp>
        <p:nvSpPr>
          <p:cNvPr id="24" name="why box"/>
          <p:cNvSpPr/>
          <p:nvPr/>
        </p:nvSpPr>
        <p:spPr>
          <a:xfrm>
            <a:off x="457200" y="3886200"/>
            <a:ext cx="8229600" cy="685800"/>
          </a:xfrm>
          <a:prstGeom prst="roundRect">
            <a:avLst>
              <a:gd name="adj" fmla="val 10667"/>
            </a:avLst>
          </a:prstGeom>
          <a:solidFill>
            <a:schemeClr val="bg2"/>
          </a:solidFill>
          <a:ln/>
        </p:spPr>
      </p:sp>
      <p:sp>
        <p:nvSpPr>
          <p:cNvPr id="25" name="Text 15"/>
          <p:cNvSpPr txBox="1"/>
          <p:nvPr/>
        </p:nvSpPr>
        <p:spPr>
          <a:xfrm>
            <a:off x="685800" y="3931920"/>
            <a:ext cx="7772400" cy="594360"/>
          </a:xfrm>
          <a:prstGeom prst="rect">
            <a:avLst/>
          </a:prstGeom>
          <a:noFill/>
          <a:ln/>
        </p:spPr>
        <p:txBody>
          <a:bodyPr wrap="square" lIns="0" tIns="0" rIns="0" bIns="0" rtlCol="0" anchor="ctr"/>
          <a:lstStyle/>
          <a:p>
            <a:pPr indent="0" marL="0">
              <a:buNone/>
            </a:pPr>
            <a:r>
              <a:rPr lang="en-US" sz="1300" b="1" dirty="0">
                <a:solidFill>
                  <a:schemeClr val="tx2"/>
                </a:solidFill>
              </a:rPr>
              <a:t>¿Por qué? </a:t>
            </a:r>
            <a:pPr indent="0" marL="0">
              <a:buNone/>
            </a:pPr>
            <a:r>
              <a:rPr lang="en-US" sz="1300" dirty="0">
                <a:solidFill>
                  <a:schemeClr val="tx1"/>
                </a:solidFill>
              </a:rPr>
              <a:t>El precio no garantiza valor. Si el problema es el proceso, una herramienta nueva solo cambia de lugar el desorden, y además suma costo y curva de aprendizaje.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PRINCIPIOS 1 Y 2</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Partir del valor y de lo que ya tenemos</a:t>
            </a:r>
            <a:endParaRPr lang="en-US" sz="2800" dirty="0"/>
          </a:p>
        </p:txBody>
      </p:sp>
      <p:sp>
        <p:nvSpPr>
          <p:cNvPr id="4" name="Enfocarse en el valor"/>
          <p:cNvSpPr/>
          <p:nvPr/>
        </p:nvSpPr>
        <p:spPr>
          <a:xfrm>
            <a:off x="457200" y="1371600"/>
            <a:ext cx="4023360" cy="3200400"/>
          </a:xfrm>
          <a:prstGeom prst="roundRect">
            <a:avLst>
              <a:gd name="adj" fmla="val 228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5" name="Enfocarse en el valor circle"/>
          <p:cNvSpPr/>
          <p:nvPr/>
        </p:nvSpPr>
        <p:spPr>
          <a:xfrm>
            <a:off x="685800" y="1554480"/>
            <a:ext cx="594360" cy="594360"/>
          </a:xfrm>
          <a:prstGeom prst="ellipse">
            <a:avLst/>
          </a:prstGeom>
          <a:solidFill>
            <a:srgbClr val="2A9D8F"/>
          </a:solidFill>
          <a:ln/>
        </p:spPr>
      </p:sp>
      <p:pic>
        <p:nvPicPr>
          <p:cNvPr id="6" name="Enfocarse en el valor icon" descr="Enfocarse en el valor">    </p:cNvPr>
          <p:cNvPicPr>
            <a:picLocks noChangeAspect="1"/>
          </p:cNvPicPr>
          <p:nvPr/>
        </p:nvPicPr>
        <p:blipFill>
          <a:blip r:embed="rId1"/>
          <a:stretch>
            <a:fillRect/>
          </a:stretch>
        </p:blipFill>
        <p:spPr>
          <a:xfrm>
            <a:off x="828446" y="1697126"/>
            <a:ext cx="309067" cy="309067"/>
          </a:xfrm>
          <a:prstGeom prst="rect">
            <a:avLst/>
          </a:prstGeom>
        </p:spPr>
      </p:pic>
      <p:sp>
        <p:nvSpPr>
          <p:cNvPr id="7" name="Text 4"/>
          <p:cNvSpPr txBox="1"/>
          <p:nvPr/>
        </p:nvSpPr>
        <p:spPr>
          <a:xfrm>
            <a:off x="1417320" y="1572768"/>
            <a:ext cx="2834640" cy="228600"/>
          </a:xfrm>
          <a:prstGeom prst="rect">
            <a:avLst/>
          </a:prstGeom>
          <a:noFill/>
          <a:ln/>
        </p:spPr>
        <p:txBody>
          <a:bodyPr wrap="square" lIns="0" tIns="0" rIns="0" bIns="0" rtlCol="0" anchor="t"/>
          <a:lstStyle/>
          <a:p>
            <a:pPr indent="0" marL="0">
              <a:buNone/>
            </a:pPr>
            <a:r>
              <a:rPr lang="en-US" sz="1100" dirty="0">
                <a:solidFill>
                  <a:schemeClr val="accent6"/>
                </a:solidFill>
              </a:rPr>
              <a:t>Principio 1</a:t>
            </a:r>
            <a:endParaRPr lang="en-US" sz="1100" dirty="0"/>
          </a:p>
        </p:txBody>
      </p:sp>
      <p:sp>
        <p:nvSpPr>
          <p:cNvPr id="8" name="Text 5"/>
          <p:cNvSpPr txBox="1"/>
          <p:nvPr/>
        </p:nvSpPr>
        <p:spPr>
          <a:xfrm>
            <a:off x="1417320" y="1801368"/>
            <a:ext cx="2926080" cy="320040"/>
          </a:xfrm>
          <a:prstGeom prst="rect">
            <a:avLst/>
          </a:prstGeom>
          <a:noFill/>
          <a:ln/>
        </p:spPr>
        <p:txBody>
          <a:bodyPr wrap="square" lIns="0" tIns="0" rIns="0" bIns="0" rtlCol="0" anchor="t"/>
          <a:lstStyle/>
          <a:p>
            <a:pPr indent="0" marL="0">
              <a:buNone/>
            </a:pPr>
            <a:r>
              <a:rPr lang="en-US" sz="1700" b="1" dirty="0">
                <a:solidFill>
                  <a:schemeClr val="tx2"/>
                </a:solidFill>
              </a:rPr>
              <a:t>Enfocarse en el valor</a:t>
            </a:r>
            <a:endParaRPr lang="en-US" sz="1700" dirty="0"/>
          </a:p>
        </p:txBody>
      </p:sp>
      <p:sp>
        <p:nvSpPr>
          <p:cNvPr id="9" name="Text 6"/>
          <p:cNvSpPr txBox="1"/>
          <p:nvPr/>
        </p:nvSpPr>
        <p:spPr>
          <a:xfrm>
            <a:off x="731520" y="2331720"/>
            <a:ext cx="3520440"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Centralizar las solicitudes para reducir tiempos y dar seguimiento</a:t>
            </a:r>
            <a:endParaRPr lang="en-US" sz="1300" dirty="0"/>
          </a:p>
          <a:p>
            <a:pPr marL="342900" indent="-342900">
              <a:spcAft>
                <a:spcPts val="600"/>
              </a:spcAft>
              <a:buSzPct val="100000"/>
              <a:buChar char="•"/>
            </a:pPr>
            <a:r>
              <a:rPr lang="en-US" sz="1300" dirty="0">
                <a:solidFill>
                  <a:schemeClr val="tx1"/>
                </a:solidFill>
              </a:rPr>
              <a:t>Quick win: autoservicio seguro para recuperar contraseñas</a:t>
            </a:r>
            <a:endParaRPr lang="en-US" sz="1300" dirty="0"/>
          </a:p>
        </p:txBody>
      </p:sp>
      <p:sp>
        <p:nvSpPr>
          <p:cNvPr id="10" name="why 1"/>
          <p:cNvSpPr/>
          <p:nvPr/>
        </p:nvSpPr>
        <p:spPr>
          <a:xfrm>
            <a:off x="685800" y="3520440"/>
            <a:ext cx="3566160" cy="868680"/>
          </a:xfrm>
          <a:prstGeom prst="roundRect">
            <a:avLst>
              <a:gd name="adj" fmla="val 6316"/>
            </a:avLst>
          </a:prstGeom>
          <a:solidFill>
            <a:schemeClr val="bg2"/>
          </a:solidFill>
          <a:ln/>
        </p:spPr>
      </p:sp>
      <p:sp>
        <p:nvSpPr>
          <p:cNvPr id="11" name="Text 8"/>
          <p:cNvSpPr txBox="1"/>
          <p:nvPr/>
        </p:nvSpPr>
        <p:spPr>
          <a:xfrm>
            <a:off x="822960" y="3566160"/>
            <a:ext cx="3291840" cy="777240"/>
          </a:xfrm>
          <a:prstGeom prst="rect">
            <a:avLst/>
          </a:prstGeom>
          <a:noFill/>
          <a:ln/>
        </p:spPr>
        <p:txBody>
          <a:bodyPr wrap="square" lIns="0" tIns="0" rIns="0" bIns="0" rtlCol="0" anchor="ctr"/>
          <a:lstStyle/>
          <a:p>
            <a:pPr indent="0" marL="0">
              <a:buNone/>
            </a:pPr>
            <a:r>
              <a:rPr lang="en-US" sz="1200" b="1" dirty="0">
                <a:solidFill>
                  <a:schemeClr val="tx2"/>
                </a:solidFill>
              </a:rPr>
              <a:t>Por qué: </a:t>
            </a:r>
            <a:pPr indent="0" marL="0">
              <a:buNone/>
            </a:pPr>
            <a:r>
              <a:rPr lang="en-US" sz="1200" i="1" dirty="0">
                <a:solidFill>
                  <a:schemeClr val="tx2"/>
                </a:solidFill>
              </a:rPr>
              <a:t>El objetivo no es instalar tickets, sino que el usuario resuelva rápido y sepa qué pasa con su caso.</a:t>
            </a:r>
            <a:endParaRPr lang="en-US" sz="1200" dirty="0"/>
          </a:p>
        </p:txBody>
      </p:sp>
      <p:sp>
        <p:nvSpPr>
          <p:cNvPr id="12" name="Empezar donde se está"/>
          <p:cNvSpPr/>
          <p:nvPr/>
        </p:nvSpPr>
        <p:spPr>
          <a:xfrm>
            <a:off x="4663440" y="1371600"/>
            <a:ext cx="4023360" cy="3200400"/>
          </a:xfrm>
          <a:prstGeom prst="roundRect">
            <a:avLst>
              <a:gd name="adj" fmla="val 228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3" name="Empezar donde se está circle"/>
          <p:cNvSpPr/>
          <p:nvPr/>
        </p:nvSpPr>
        <p:spPr>
          <a:xfrm>
            <a:off x="4892040" y="1554480"/>
            <a:ext cx="594360" cy="594360"/>
          </a:xfrm>
          <a:prstGeom prst="ellipse">
            <a:avLst/>
          </a:prstGeom>
          <a:solidFill>
            <a:srgbClr val="2A9D8F"/>
          </a:solidFill>
          <a:ln/>
        </p:spPr>
      </p:sp>
      <p:pic>
        <p:nvPicPr>
          <p:cNvPr id="14" name="Empezar donde se está icon" descr="Empezar donde se está">    </p:cNvPr>
          <p:cNvPicPr>
            <a:picLocks noChangeAspect="1"/>
          </p:cNvPicPr>
          <p:nvPr/>
        </p:nvPicPr>
        <p:blipFill>
          <a:blip r:embed="rId2"/>
          <a:stretch>
            <a:fillRect/>
          </a:stretch>
        </p:blipFill>
        <p:spPr>
          <a:xfrm>
            <a:off x="5034686" y="1697126"/>
            <a:ext cx="309067" cy="309067"/>
          </a:xfrm>
          <a:prstGeom prst="rect">
            <a:avLst/>
          </a:prstGeom>
        </p:spPr>
      </p:pic>
      <p:sp>
        <p:nvSpPr>
          <p:cNvPr id="15" name="Text 11"/>
          <p:cNvSpPr txBox="1"/>
          <p:nvPr/>
        </p:nvSpPr>
        <p:spPr>
          <a:xfrm>
            <a:off x="5623560" y="1572768"/>
            <a:ext cx="2834640" cy="228600"/>
          </a:xfrm>
          <a:prstGeom prst="rect">
            <a:avLst/>
          </a:prstGeom>
          <a:noFill/>
          <a:ln/>
        </p:spPr>
        <p:txBody>
          <a:bodyPr wrap="square" lIns="0" tIns="0" rIns="0" bIns="0" rtlCol="0" anchor="t"/>
          <a:lstStyle/>
          <a:p>
            <a:pPr indent="0" marL="0">
              <a:buNone/>
            </a:pPr>
            <a:r>
              <a:rPr lang="en-US" sz="1100" dirty="0">
                <a:solidFill>
                  <a:schemeClr val="accent6"/>
                </a:solidFill>
              </a:rPr>
              <a:t>Principio 2</a:t>
            </a:r>
            <a:endParaRPr lang="en-US" sz="1100" dirty="0"/>
          </a:p>
        </p:txBody>
      </p:sp>
      <p:sp>
        <p:nvSpPr>
          <p:cNvPr id="16" name="Text 12"/>
          <p:cNvSpPr txBox="1"/>
          <p:nvPr/>
        </p:nvSpPr>
        <p:spPr>
          <a:xfrm>
            <a:off x="5623560" y="1801368"/>
            <a:ext cx="2926080" cy="320040"/>
          </a:xfrm>
          <a:prstGeom prst="rect">
            <a:avLst/>
          </a:prstGeom>
          <a:noFill/>
          <a:ln/>
        </p:spPr>
        <p:txBody>
          <a:bodyPr wrap="square" lIns="0" tIns="0" rIns="0" bIns="0" rtlCol="0" anchor="t"/>
          <a:lstStyle/>
          <a:p>
            <a:pPr indent="0" marL="0">
              <a:buNone/>
            </a:pPr>
            <a:r>
              <a:rPr lang="en-US" sz="1700" b="1" dirty="0">
                <a:solidFill>
                  <a:schemeClr val="tx2"/>
                </a:solidFill>
              </a:rPr>
              <a:t>Empezar donde se está</a:t>
            </a:r>
            <a:endParaRPr lang="en-US" sz="1700" dirty="0"/>
          </a:p>
        </p:txBody>
      </p:sp>
      <p:sp>
        <p:nvSpPr>
          <p:cNvPr id="17" name="Text 13"/>
          <p:cNvSpPr txBox="1"/>
          <p:nvPr/>
        </p:nvSpPr>
        <p:spPr>
          <a:xfrm>
            <a:off x="4937760" y="2331720"/>
            <a:ext cx="3520440"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Evaluar la herramienta gratuita que el equipo de TI ya conoce</a:t>
            </a:r>
            <a:endParaRPr lang="en-US" sz="1300" dirty="0"/>
          </a:p>
          <a:p>
            <a:pPr marL="342900" indent="-342900">
              <a:spcAft>
                <a:spcPts val="600"/>
              </a:spcAft>
              <a:buSzPct val="100000"/>
              <a:buChar char="•"/>
            </a:pPr>
            <a:r>
              <a:rPr lang="en-US" sz="1300" dirty="0">
                <a:solidFill>
                  <a:schemeClr val="tx1"/>
                </a:solidFill>
              </a:rPr>
              <a:t>Rescatar del Excel y del correo la información útil</a:t>
            </a:r>
            <a:endParaRPr lang="en-US" sz="1300" dirty="0"/>
          </a:p>
        </p:txBody>
      </p:sp>
      <p:sp>
        <p:nvSpPr>
          <p:cNvPr id="18" name="why 2"/>
          <p:cNvSpPr/>
          <p:nvPr/>
        </p:nvSpPr>
        <p:spPr>
          <a:xfrm>
            <a:off x="4892040" y="3520440"/>
            <a:ext cx="3566160" cy="868680"/>
          </a:xfrm>
          <a:prstGeom prst="roundRect">
            <a:avLst>
              <a:gd name="adj" fmla="val 6316"/>
            </a:avLst>
          </a:prstGeom>
          <a:solidFill>
            <a:schemeClr val="bg2"/>
          </a:solidFill>
          <a:ln/>
        </p:spPr>
      </p:sp>
      <p:sp>
        <p:nvSpPr>
          <p:cNvPr id="19" name="Text 15"/>
          <p:cNvSpPr txBox="1"/>
          <p:nvPr/>
        </p:nvSpPr>
        <p:spPr>
          <a:xfrm>
            <a:off x="5029200" y="3566160"/>
            <a:ext cx="3291840" cy="777240"/>
          </a:xfrm>
          <a:prstGeom prst="rect">
            <a:avLst/>
          </a:prstGeom>
          <a:noFill/>
          <a:ln/>
        </p:spPr>
        <p:txBody>
          <a:bodyPr wrap="square" lIns="0" tIns="0" rIns="0" bIns="0" rtlCol="0" anchor="ctr"/>
          <a:lstStyle/>
          <a:p>
            <a:pPr indent="0" marL="0">
              <a:buNone/>
            </a:pPr>
            <a:r>
              <a:rPr lang="en-US" sz="1200" b="1" dirty="0">
                <a:solidFill>
                  <a:schemeClr val="tx2"/>
                </a:solidFill>
              </a:rPr>
              <a:t>Por qué: </a:t>
            </a:r>
            <a:pPr indent="0" marL="0">
              <a:buNone/>
            </a:pPr>
            <a:r>
              <a:rPr lang="en-US" sz="1200" i="1" dirty="0">
                <a:solidFill>
                  <a:schemeClr val="tx2"/>
                </a:solidFill>
              </a:rPr>
              <a:t>Ahorra costo y capacitación; si la herramienta cumple, no hace falta comprar otra.</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PRINCIPIO 3 · PROGRESAR ITERATIVAMENTE</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Avanzar por etapas, con retroalimentación</a:t>
            </a:r>
            <a:endParaRPr lang="en-US" sz="2800" dirty="0"/>
          </a:p>
        </p:txBody>
      </p:sp>
      <p:sp>
        <p:nvSpPr>
          <p:cNvPr id="4" name="timeline"/>
          <p:cNvSpPr/>
          <p:nvPr/>
        </p:nvSpPr>
        <p:spPr>
          <a:xfrm>
            <a:off x="914400" y="1783080"/>
            <a:ext cx="7269480" cy="0"/>
          </a:xfrm>
          <a:prstGeom prst="line">
            <a:avLst/>
          </a:prstGeom>
          <a:noFill/>
          <a:ln w="38100">
            <a:solidFill>
              <a:srgbClr val="E8F3F1"/>
            </a:solidFill>
            <a:prstDash val="solid"/>
          </a:ln>
        </p:spPr>
      </p:sp>
      <p:sp>
        <p:nvSpPr>
          <p:cNvPr id="5" name="Etapa 1 circle"/>
          <p:cNvSpPr/>
          <p:nvPr/>
        </p:nvSpPr>
        <p:spPr>
          <a:xfrm>
            <a:off x="1005840" y="1417320"/>
            <a:ext cx="731520" cy="731520"/>
          </a:xfrm>
          <a:prstGeom prst="ellipse">
            <a:avLst/>
          </a:prstGeom>
          <a:solidFill>
            <a:srgbClr val="F4A261"/>
          </a:solidFill>
          <a:ln/>
        </p:spPr>
      </p:sp>
      <p:pic>
        <p:nvPicPr>
          <p:cNvPr id="6" name="Etapa 1 icon" descr="Etapa 1">    </p:cNvPr>
          <p:cNvPicPr>
            <a:picLocks noChangeAspect="1"/>
          </p:cNvPicPr>
          <p:nvPr/>
        </p:nvPicPr>
        <p:blipFill>
          <a:blip r:embed="rId1"/>
          <a:stretch>
            <a:fillRect/>
          </a:stretch>
        </p:blipFill>
        <p:spPr>
          <a:xfrm>
            <a:off x="1181405" y="1592885"/>
            <a:ext cx="380390" cy="380390"/>
          </a:xfrm>
          <a:prstGeom prst="rect">
            <a:avLst/>
          </a:prstGeom>
        </p:spPr>
      </p:pic>
      <p:sp>
        <p:nvSpPr>
          <p:cNvPr id="7" name="Etapa 1 card"/>
          <p:cNvSpPr/>
          <p:nvPr/>
        </p:nvSpPr>
        <p:spPr>
          <a:xfrm>
            <a:off x="457200" y="2377440"/>
            <a:ext cx="1828800" cy="1234440"/>
          </a:xfrm>
          <a:prstGeom prst="roundRect">
            <a:avLst>
              <a:gd name="adj" fmla="val 592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40080" y="2487168"/>
            <a:ext cx="1463040" cy="274320"/>
          </a:xfrm>
          <a:prstGeom prst="rect">
            <a:avLst/>
          </a:prstGeom>
          <a:noFill/>
          <a:ln/>
        </p:spPr>
        <p:txBody>
          <a:bodyPr wrap="square" lIns="0" tIns="0" rIns="0" bIns="0" rtlCol="0" anchor="t"/>
          <a:lstStyle/>
          <a:p>
            <a:pPr indent="0" marL="0">
              <a:buNone/>
            </a:pPr>
            <a:r>
              <a:rPr lang="en-US" sz="1400" b="1" dirty="0">
                <a:solidFill>
                  <a:schemeClr val="tx2"/>
                </a:solidFill>
              </a:rPr>
              <a:t>Etapa 1</a:t>
            </a:r>
            <a:endParaRPr lang="en-US" sz="1400" dirty="0"/>
          </a:p>
        </p:txBody>
      </p:sp>
      <p:sp>
        <p:nvSpPr>
          <p:cNvPr id="9" name="Text 6"/>
          <p:cNvSpPr txBox="1"/>
          <p:nvPr/>
        </p:nvSpPr>
        <p:spPr>
          <a:xfrm>
            <a:off x="640080" y="2788920"/>
            <a:ext cx="1508760" cy="777240"/>
          </a:xfrm>
          <a:prstGeom prst="rect">
            <a:avLst/>
          </a:prstGeom>
          <a:noFill/>
          <a:ln/>
        </p:spPr>
        <p:txBody>
          <a:bodyPr wrap="square" lIns="0" tIns="0" rIns="0" bIns="0" rtlCol="0" anchor="t"/>
          <a:lstStyle/>
          <a:p>
            <a:pPr indent="0" marL="0">
              <a:buNone/>
            </a:pPr>
            <a:r>
              <a:rPr lang="en-US" sz="1200" dirty="0">
                <a:solidFill>
                  <a:schemeClr val="tx1"/>
                </a:solidFill>
              </a:rPr>
              <a:t>Registro de tickets, asignación y seguimiento</a:t>
            </a:r>
            <a:endParaRPr lang="en-US" sz="1200" dirty="0"/>
          </a:p>
        </p:txBody>
      </p:sp>
      <p:sp>
        <p:nvSpPr>
          <p:cNvPr id="10" name="Etapa 2 circle"/>
          <p:cNvSpPr/>
          <p:nvPr/>
        </p:nvSpPr>
        <p:spPr>
          <a:xfrm>
            <a:off x="3108960" y="1417320"/>
            <a:ext cx="731520" cy="731520"/>
          </a:xfrm>
          <a:prstGeom prst="ellipse">
            <a:avLst/>
          </a:prstGeom>
          <a:solidFill>
            <a:srgbClr val="2A9D8F"/>
          </a:solidFill>
          <a:ln/>
        </p:spPr>
      </p:sp>
      <p:pic>
        <p:nvPicPr>
          <p:cNvPr id="11" name="Etapa 2 icon" descr="Etapa 2">    </p:cNvPr>
          <p:cNvPicPr>
            <a:picLocks noChangeAspect="1"/>
          </p:cNvPicPr>
          <p:nvPr/>
        </p:nvPicPr>
        <p:blipFill>
          <a:blip r:embed="rId2"/>
          <a:stretch>
            <a:fillRect/>
          </a:stretch>
        </p:blipFill>
        <p:spPr>
          <a:xfrm>
            <a:off x="3284525" y="1592885"/>
            <a:ext cx="380390" cy="380390"/>
          </a:xfrm>
          <a:prstGeom prst="rect">
            <a:avLst/>
          </a:prstGeom>
        </p:spPr>
      </p:pic>
      <p:sp>
        <p:nvSpPr>
          <p:cNvPr id="12" name="Etapa 2 card"/>
          <p:cNvSpPr/>
          <p:nvPr/>
        </p:nvSpPr>
        <p:spPr>
          <a:xfrm>
            <a:off x="2560320" y="2377440"/>
            <a:ext cx="1828800" cy="1234440"/>
          </a:xfrm>
          <a:prstGeom prst="roundRect">
            <a:avLst>
              <a:gd name="adj" fmla="val 592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3" name="Text 9"/>
          <p:cNvSpPr txBox="1"/>
          <p:nvPr/>
        </p:nvSpPr>
        <p:spPr>
          <a:xfrm>
            <a:off x="2743200" y="2487168"/>
            <a:ext cx="1463040" cy="274320"/>
          </a:xfrm>
          <a:prstGeom prst="rect">
            <a:avLst/>
          </a:prstGeom>
          <a:noFill/>
          <a:ln/>
        </p:spPr>
        <p:txBody>
          <a:bodyPr wrap="square" lIns="0" tIns="0" rIns="0" bIns="0" rtlCol="0" anchor="t"/>
          <a:lstStyle/>
          <a:p>
            <a:pPr indent="0" marL="0">
              <a:buNone/>
            </a:pPr>
            <a:r>
              <a:rPr lang="en-US" sz="1400" b="1" dirty="0">
                <a:solidFill>
                  <a:schemeClr val="tx2"/>
                </a:solidFill>
              </a:rPr>
              <a:t>Etapa 2</a:t>
            </a:r>
            <a:endParaRPr lang="en-US" sz="1400" dirty="0"/>
          </a:p>
        </p:txBody>
      </p:sp>
      <p:sp>
        <p:nvSpPr>
          <p:cNvPr id="14" name="Text 10"/>
          <p:cNvSpPr txBox="1"/>
          <p:nvPr/>
        </p:nvSpPr>
        <p:spPr>
          <a:xfrm>
            <a:off x="2743200" y="2788920"/>
            <a:ext cx="1508760" cy="777240"/>
          </a:xfrm>
          <a:prstGeom prst="rect">
            <a:avLst/>
          </a:prstGeom>
          <a:noFill/>
          <a:ln/>
        </p:spPr>
        <p:txBody>
          <a:bodyPr wrap="square" lIns="0" tIns="0" rIns="0" bIns="0" rtlCol="0" anchor="t"/>
          <a:lstStyle/>
          <a:p>
            <a:pPr indent="0" marL="0">
              <a:buNone/>
            </a:pPr>
            <a:r>
              <a:rPr lang="en-US" sz="1200" dirty="0">
                <a:solidFill>
                  <a:schemeClr val="tx1"/>
                </a:solidFill>
              </a:rPr>
              <a:t>Categorías, prioridades y tiempos de atención (SLA)</a:t>
            </a:r>
            <a:endParaRPr lang="en-US" sz="1200" dirty="0"/>
          </a:p>
        </p:txBody>
      </p:sp>
      <p:sp>
        <p:nvSpPr>
          <p:cNvPr id="15" name="Etapa 3 circle"/>
          <p:cNvSpPr/>
          <p:nvPr/>
        </p:nvSpPr>
        <p:spPr>
          <a:xfrm>
            <a:off x="5212080" y="1417320"/>
            <a:ext cx="731520" cy="731520"/>
          </a:xfrm>
          <a:prstGeom prst="ellipse">
            <a:avLst/>
          </a:prstGeom>
          <a:solidFill>
            <a:srgbClr val="2A9D8F"/>
          </a:solidFill>
          <a:ln/>
        </p:spPr>
      </p:sp>
      <p:pic>
        <p:nvPicPr>
          <p:cNvPr id="16" name="Etapa 3 icon" descr="Etapa 3">    </p:cNvPr>
          <p:cNvPicPr>
            <a:picLocks noChangeAspect="1"/>
          </p:cNvPicPr>
          <p:nvPr/>
        </p:nvPicPr>
        <p:blipFill>
          <a:blip r:embed="rId3"/>
          <a:stretch>
            <a:fillRect/>
          </a:stretch>
        </p:blipFill>
        <p:spPr>
          <a:xfrm>
            <a:off x="5387645" y="1592885"/>
            <a:ext cx="380390" cy="380390"/>
          </a:xfrm>
          <a:prstGeom prst="rect">
            <a:avLst/>
          </a:prstGeom>
        </p:spPr>
      </p:pic>
      <p:sp>
        <p:nvSpPr>
          <p:cNvPr id="17" name="Etapa 3 card"/>
          <p:cNvSpPr/>
          <p:nvPr/>
        </p:nvSpPr>
        <p:spPr>
          <a:xfrm>
            <a:off x="4663440" y="2377440"/>
            <a:ext cx="1828800" cy="1234440"/>
          </a:xfrm>
          <a:prstGeom prst="roundRect">
            <a:avLst>
              <a:gd name="adj" fmla="val 592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18" name="Text 13"/>
          <p:cNvSpPr txBox="1"/>
          <p:nvPr/>
        </p:nvSpPr>
        <p:spPr>
          <a:xfrm>
            <a:off x="4846320" y="2487168"/>
            <a:ext cx="1463040" cy="274320"/>
          </a:xfrm>
          <a:prstGeom prst="rect">
            <a:avLst/>
          </a:prstGeom>
          <a:noFill/>
          <a:ln/>
        </p:spPr>
        <p:txBody>
          <a:bodyPr wrap="square" lIns="0" tIns="0" rIns="0" bIns="0" rtlCol="0" anchor="t"/>
          <a:lstStyle/>
          <a:p>
            <a:pPr indent="0" marL="0">
              <a:buNone/>
            </a:pPr>
            <a:r>
              <a:rPr lang="en-US" sz="1400" b="1" dirty="0">
                <a:solidFill>
                  <a:schemeClr val="tx2"/>
                </a:solidFill>
              </a:rPr>
              <a:t>Etapa 3</a:t>
            </a:r>
            <a:endParaRPr lang="en-US" sz="1400" dirty="0"/>
          </a:p>
        </p:txBody>
      </p:sp>
      <p:sp>
        <p:nvSpPr>
          <p:cNvPr id="19" name="Text 14"/>
          <p:cNvSpPr txBox="1"/>
          <p:nvPr/>
        </p:nvSpPr>
        <p:spPr>
          <a:xfrm>
            <a:off x="4846320" y="2788920"/>
            <a:ext cx="1508760" cy="777240"/>
          </a:xfrm>
          <a:prstGeom prst="rect">
            <a:avLst/>
          </a:prstGeom>
          <a:noFill/>
          <a:ln/>
        </p:spPr>
        <p:txBody>
          <a:bodyPr wrap="square" lIns="0" tIns="0" rIns="0" bIns="0" rtlCol="0" anchor="t"/>
          <a:lstStyle/>
          <a:p>
            <a:pPr indent="0" marL="0">
              <a:buNone/>
            </a:pPr>
            <a:r>
              <a:rPr lang="en-US" sz="1200" dirty="0">
                <a:solidFill>
                  <a:schemeClr val="tx1"/>
                </a:solidFill>
              </a:rPr>
              <a:t>Reportes y base de conocimiento</a:t>
            </a:r>
            <a:endParaRPr lang="en-US" sz="1200" dirty="0"/>
          </a:p>
        </p:txBody>
      </p:sp>
      <p:sp>
        <p:nvSpPr>
          <p:cNvPr id="20" name="Etapa 4 circle"/>
          <p:cNvSpPr/>
          <p:nvPr/>
        </p:nvSpPr>
        <p:spPr>
          <a:xfrm>
            <a:off x="7315200" y="1417320"/>
            <a:ext cx="731520" cy="731520"/>
          </a:xfrm>
          <a:prstGeom prst="ellipse">
            <a:avLst/>
          </a:prstGeom>
          <a:solidFill>
            <a:srgbClr val="2A9D8F"/>
          </a:solidFill>
          <a:ln/>
        </p:spPr>
      </p:sp>
      <p:pic>
        <p:nvPicPr>
          <p:cNvPr id="21" name="Etapa 4 icon" descr="Etapa 4">    </p:cNvPr>
          <p:cNvPicPr>
            <a:picLocks noChangeAspect="1"/>
          </p:cNvPicPr>
          <p:nvPr/>
        </p:nvPicPr>
        <p:blipFill>
          <a:blip r:embed="rId4"/>
          <a:stretch>
            <a:fillRect/>
          </a:stretch>
        </p:blipFill>
        <p:spPr>
          <a:xfrm>
            <a:off x="7490765" y="1592885"/>
            <a:ext cx="380390" cy="380390"/>
          </a:xfrm>
          <a:prstGeom prst="rect">
            <a:avLst/>
          </a:prstGeom>
        </p:spPr>
      </p:pic>
      <p:sp>
        <p:nvSpPr>
          <p:cNvPr id="22" name="Etapa 4 card"/>
          <p:cNvSpPr/>
          <p:nvPr/>
        </p:nvSpPr>
        <p:spPr>
          <a:xfrm>
            <a:off x="6766560" y="2377440"/>
            <a:ext cx="1828800" cy="1234440"/>
          </a:xfrm>
          <a:prstGeom prst="roundRect">
            <a:avLst>
              <a:gd name="adj" fmla="val 592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23" name="Text 17"/>
          <p:cNvSpPr txBox="1"/>
          <p:nvPr/>
        </p:nvSpPr>
        <p:spPr>
          <a:xfrm>
            <a:off x="6949440" y="2487168"/>
            <a:ext cx="1463040" cy="274320"/>
          </a:xfrm>
          <a:prstGeom prst="rect">
            <a:avLst/>
          </a:prstGeom>
          <a:noFill/>
          <a:ln/>
        </p:spPr>
        <p:txBody>
          <a:bodyPr wrap="square" lIns="0" tIns="0" rIns="0" bIns="0" rtlCol="0" anchor="t"/>
          <a:lstStyle/>
          <a:p>
            <a:pPr indent="0" marL="0">
              <a:buNone/>
            </a:pPr>
            <a:r>
              <a:rPr lang="en-US" sz="1400" b="1" dirty="0">
                <a:solidFill>
                  <a:schemeClr val="tx2"/>
                </a:solidFill>
              </a:rPr>
              <a:t>Etapa 4</a:t>
            </a:r>
            <a:endParaRPr lang="en-US" sz="1400" dirty="0"/>
          </a:p>
        </p:txBody>
      </p:sp>
      <p:sp>
        <p:nvSpPr>
          <p:cNvPr id="24" name="Text 18"/>
          <p:cNvSpPr txBox="1"/>
          <p:nvPr/>
        </p:nvSpPr>
        <p:spPr>
          <a:xfrm>
            <a:off x="6949440" y="2788920"/>
            <a:ext cx="1508760" cy="777240"/>
          </a:xfrm>
          <a:prstGeom prst="rect">
            <a:avLst/>
          </a:prstGeom>
          <a:noFill/>
          <a:ln/>
        </p:spPr>
        <p:txBody>
          <a:bodyPr wrap="square" lIns="0" tIns="0" rIns="0" bIns="0" rtlCol="0" anchor="t"/>
          <a:lstStyle/>
          <a:p>
            <a:pPr indent="0" marL="0">
              <a:buNone/>
            </a:pPr>
            <a:r>
              <a:rPr lang="en-US" sz="1200" dirty="0">
                <a:solidFill>
                  <a:schemeClr val="tx1"/>
                </a:solidFill>
              </a:rPr>
              <a:t>Automatizar las solicitudes frecuentes</a:t>
            </a:r>
            <a:endParaRPr lang="en-US" sz="1200" dirty="0"/>
          </a:p>
        </p:txBody>
      </p:sp>
      <p:sp>
        <p:nvSpPr>
          <p:cNvPr id="25" name="cycle box"/>
          <p:cNvSpPr/>
          <p:nvPr/>
        </p:nvSpPr>
        <p:spPr>
          <a:xfrm>
            <a:off x="457200" y="3840480"/>
            <a:ext cx="8229600" cy="731520"/>
          </a:xfrm>
          <a:prstGeom prst="roundRect">
            <a:avLst>
              <a:gd name="adj" fmla="val 10000"/>
            </a:avLst>
          </a:prstGeom>
          <a:solidFill>
            <a:schemeClr val="bg2"/>
          </a:solidFill>
          <a:ln/>
        </p:spPr>
      </p:sp>
      <p:sp>
        <p:nvSpPr>
          <p:cNvPr id="26" name="Ciclo circle"/>
          <p:cNvSpPr/>
          <p:nvPr/>
        </p:nvSpPr>
        <p:spPr>
          <a:xfrm>
            <a:off x="640080" y="3950208"/>
            <a:ext cx="502920" cy="502920"/>
          </a:xfrm>
          <a:prstGeom prst="ellipse">
            <a:avLst/>
          </a:prstGeom>
          <a:solidFill>
            <a:srgbClr val="2A9D8F"/>
          </a:solidFill>
          <a:ln/>
        </p:spPr>
      </p:sp>
      <p:pic>
        <p:nvPicPr>
          <p:cNvPr id="27" name="Ciclo icon" descr="Ciclo">    </p:cNvPr>
          <p:cNvPicPr>
            <a:picLocks noChangeAspect="1"/>
          </p:cNvPicPr>
          <p:nvPr/>
        </p:nvPicPr>
        <p:blipFill>
          <a:blip r:embed="rId5"/>
          <a:stretch>
            <a:fillRect/>
          </a:stretch>
        </p:blipFill>
        <p:spPr>
          <a:xfrm>
            <a:off x="760781" y="4070909"/>
            <a:ext cx="261518" cy="261518"/>
          </a:xfrm>
          <a:prstGeom prst="rect">
            <a:avLst/>
          </a:prstGeom>
        </p:spPr>
      </p:pic>
      <p:sp>
        <p:nvSpPr>
          <p:cNvPr id="28" name="Text 21"/>
          <p:cNvSpPr txBox="1"/>
          <p:nvPr/>
        </p:nvSpPr>
        <p:spPr>
          <a:xfrm>
            <a:off x="1325880" y="3886200"/>
            <a:ext cx="7178040" cy="640080"/>
          </a:xfrm>
          <a:prstGeom prst="rect">
            <a:avLst/>
          </a:prstGeom>
          <a:noFill/>
          <a:ln/>
        </p:spPr>
        <p:txBody>
          <a:bodyPr wrap="square" lIns="0" tIns="0" rIns="0" bIns="0" rtlCol="0" anchor="ctr"/>
          <a:lstStyle/>
          <a:p>
            <a:pPr indent="0" marL="0">
              <a:buNone/>
            </a:pPr>
            <a:r>
              <a:rPr lang="en-US" sz="1300" b="1" dirty="0">
                <a:solidFill>
                  <a:schemeClr val="tx2"/>
                </a:solidFill>
              </a:rPr>
              <a:t>Al cierre de cada etapa: </a:t>
            </a:r>
            <a:pPr indent="0" marL="0">
              <a:buNone/>
            </a:pPr>
            <a:r>
              <a:rPr lang="en-US" sz="1300" dirty="0">
                <a:solidFill>
                  <a:schemeClr val="tx1"/>
                </a:solidFill>
              </a:rPr>
              <a:t>planificar → implementar → evaluar → pedir feedback → mejorar. Los errores se detectan temprano y el usuario ve avances desde la primera etapa.</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PRINCIPIOS 4 Y 5</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Involucrar a todos y mirar el servicio completo</a:t>
            </a:r>
            <a:endParaRPr lang="en-US" sz="2800" dirty="0"/>
          </a:p>
        </p:txBody>
      </p:sp>
      <p:sp>
        <p:nvSpPr>
          <p:cNvPr id="4" name="Colaborar card"/>
          <p:cNvSpPr/>
          <p:nvPr/>
        </p:nvSpPr>
        <p:spPr>
          <a:xfrm>
            <a:off x="457200" y="1371600"/>
            <a:ext cx="3840480" cy="3200400"/>
          </a:xfrm>
          <a:prstGeom prst="roundRect">
            <a:avLst>
              <a:gd name="adj" fmla="val 2286"/>
            </a:avLst>
          </a:prstGeom>
          <a:solidFill>
            <a:schemeClr val="bg1"/>
          </a:solidFill>
          <a:ln w="9525">
            <a:solidFill>
              <a:srgbClr val="E8F3F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508760"/>
            <a:ext cx="3474720" cy="320040"/>
          </a:xfrm>
          <a:prstGeom prst="rect">
            <a:avLst/>
          </a:prstGeom>
          <a:noFill/>
          <a:ln/>
        </p:spPr>
        <p:txBody>
          <a:bodyPr wrap="square" lIns="0" tIns="0" rIns="0" bIns="0" rtlCol="0" anchor="t"/>
          <a:lstStyle/>
          <a:p>
            <a:pPr indent="0" marL="0">
              <a:buNone/>
            </a:pPr>
            <a:r>
              <a:rPr lang="en-US" sz="1500" b="1" dirty="0">
                <a:solidFill>
                  <a:schemeClr val="tx2"/>
                </a:solidFill>
              </a:rPr>
              <a:t>4 · Colaborar y promover la visibilidad</a:t>
            </a:r>
            <a:endParaRPr lang="en-US" sz="1500" dirty="0"/>
          </a:p>
        </p:txBody>
      </p:sp>
      <p:sp>
        <p:nvSpPr>
          <p:cNvPr id="6" name="Estudiantes circle"/>
          <p:cNvSpPr/>
          <p:nvPr/>
        </p:nvSpPr>
        <p:spPr>
          <a:xfrm>
            <a:off x="822960" y="1920240"/>
            <a:ext cx="502920" cy="502920"/>
          </a:xfrm>
          <a:prstGeom prst="ellipse">
            <a:avLst/>
          </a:prstGeom>
          <a:solidFill>
            <a:srgbClr val="2A9D8F"/>
          </a:solidFill>
          <a:ln/>
        </p:spPr>
      </p:sp>
      <p:pic>
        <p:nvPicPr>
          <p:cNvPr id="7" name="Estudiantes icon" descr="Estudiantes">    </p:cNvPr>
          <p:cNvPicPr>
            <a:picLocks noChangeAspect="1"/>
          </p:cNvPicPr>
          <p:nvPr/>
        </p:nvPicPr>
        <p:blipFill>
          <a:blip r:embed="rId1"/>
          <a:stretch>
            <a:fillRect/>
          </a:stretch>
        </p:blipFill>
        <p:spPr>
          <a:xfrm>
            <a:off x="943661" y="2040941"/>
            <a:ext cx="261518" cy="261518"/>
          </a:xfrm>
          <a:prstGeom prst="rect">
            <a:avLst/>
          </a:prstGeom>
        </p:spPr>
      </p:pic>
      <p:sp>
        <p:nvSpPr>
          <p:cNvPr id="8" name="Text 5"/>
          <p:cNvSpPr txBox="1"/>
          <p:nvPr/>
        </p:nvSpPr>
        <p:spPr>
          <a:xfrm>
            <a:off x="594360" y="2468880"/>
            <a:ext cx="960120" cy="201168"/>
          </a:xfrm>
          <a:prstGeom prst="rect">
            <a:avLst/>
          </a:prstGeom>
          <a:noFill/>
          <a:ln/>
        </p:spPr>
        <p:txBody>
          <a:bodyPr wrap="square" lIns="0" tIns="0" rIns="0" bIns="0" rtlCol="0" anchor="t"/>
          <a:lstStyle/>
          <a:p>
            <a:pPr algn="ctr" indent="0" marL="0">
              <a:buNone/>
            </a:pPr>
            <a:r>
              <a:rPr lang="en-US" sz="900" dirty="0">
                <a:solidFill>
                  <a:schemeClr val="tx1"/>
                </a:solidFill>
              </a:rPr>
              <a:t>Estudiantes</a:t>
            </a:r>
            <a:endParaRPr lang="en-US" sz="900" dirty="0"/>
          </a:p>
        </p:txBody>
      </p:sp>
      <p:sp>
        <p:nvSpPr>
          <p:cNvPr id="9" name="Docentes circle"/>
          <p:cNvSpPr/>
          <p:nvPr/>
        </p:nvSpPr>
        <p:spPr>
          <a:xfrm>
            <a:off x="1691640" y="1920240"/>
            <a:ext cx="502920" cy="502920"/>
          </a:xfrm>
          <a:prstGeom prst="ellipse">
            <a:avLst/>
          </a:prstGeom>
          <a:solidFill>
            <a:srgbClr val="2A9D8F"/>
          </a:solidFill>
          <a:ln/>
        </p:spPr>
      </p:sp>
      <p:pic>
        <p:nvPicPr>
          <p:cNvPr id="10" name="Docentes icon" descr="Docentes">    </p:cNvPr>
          <p:cNvPicPr>
            <a:picLocks noChangeAspect="1"/>
          </p:cNvPicPr>
          <p:nvPr/>
        </p:nvPicPr>
        <p:blipFill>
          <a:blip r:embed="rId2"/>
          <a:stretch>
            <a:fillRect/>
          </a:stretch>
        </p:blipFill>
        <p:spPr>
          <a:xfrm>
            <a:off x="1812341" y="2040941"/>
            <a:ext cx="261518" cy="261518"/>
          </a:xfrm>
          <a:prstGeom prst="rect">
            <a:avLst/>
          </a:prstGeom>
        </p:spPr>
      </p:pic>
      <p:sp>
        <p:nvSpPr>
          <p:cNvPr id="11" name="Text 7"/>
          <p:cNvSpPr txBox="1"/>
          <p:nvPr/>
        </p:nvSpPr>
        <p:spPr>
          <a:xfrm>
            <a:off x="1463040" y="2468880"/>
            <a:ext cx="960120" cy="201168"/>
          </a:xfrm>
          <a:prstGeom prst="rect">
            <a:avLst/>
          </a:prstGeom>
          <a:noFill/>
          <a:ln/>
        </p:spPr>
        <p:txBody>
          <a:bodyPr wrap="square" lIns="0" tIns="0" rIns="0" bIns="0" rtlCol="0" anchor="t"/>
          <a:lstStyle/>
          <a:p>
            <a:pPr algn="ctr" indent="0" marL="0">
              <a:buNone/>
            </a:pPr>
            <a:r>
              <a:rPr lang="en-US" sz="900" dirty="0">
                <a:solidFill>
                  <a:schemeClr val="tx1"/>
                </a:solidFill>
              </a:rPr>
              <a:t>Docentes</a:t>
            </a:r>
            <a:endParaRPr lang="en-US" sz="900" dirty="0"/>
          </a:p>
        </p:txBody>
      </p:sp>
      <p:sp>
        <p:nvSpPr>
          <p:cNvPr id="12" name="Soporte circle"/>
          <p:cNvSpPr/>
          <p:nvPr/>
        </p:nvSpPr>
        <p:spPr>
          <a:xfrm>
            <a:off x="2560320" y="1920240"/>
            <a:ext cx="502920" cy="502920"/>
          </a:xfrm>
          <a:prstGeom prst="ellipse">
            <a:avLst/>
          </a:prstGeom>
          <a:solidFill>
            <a:srgbClr val="2A9D8F"/>
          </a:solidFill>
          <a:ln/>
        </p:spPr>
      </p:sp>
      <p:pic>
        <p:nvPicPr>
          <p:cNvPr id="13" name="Soporte icon" descr="Soporte">    </p:cNvPr>
          <p:cNvPicPr>
            <a:picLocks noChangeAspect="1"/>
          </p:cNvPicPr>
          <p:nvPr/>
        </p:nvPicPr>
        <p:blipFill>
          <a:blip r:embed="rId3"/>
          <a:stretch>
            <a:fillRect/>
          </a:stretch>
        </p:blipFill>
        <p:spPr>
          <a:xfrm>
            <a:off x="2681021" y="2040941"/>
            <a:ext cx="261518" cy="261518"/>
          </a:xfrm>
          <a:prstGeom prst="rect">
            <a:avLst/>
          </a:prstGeom>
        </p:spPr>
      </p:pic>
      <p:sp>
        <p:nvSpPr>
          <p:cNvPr id="14" name="Text 9"/>
          <p:cNvSpPr txBox="1"/>
          <p:nvPr/>
        </p:nvSpPr>
        <p:spPr>
          <a:xfrm>
            <a:off x="2331720" y="2468880"/>
            <a:ext cx="960120" cy="201168"/>
          </a:xfrm>
          <a:prstGeom prst="rect">
            <a:avLst/>
          </a:prstGeom>
          <a:noFill/>
          <a:ln/>
        </p:spPr>
        <p:txBody>
          <a:bodyPr wrap="square" lIns="0" tIns="0" rIns="0" bIns="0" rtlCol="0" anchor="t"/>
          <a:lstStyle/>
          <a:p>
            <a:pPr algn="ctr" indent="0" marL="0">
              <a:buNone/>
            </a:pPr>
            <a:r>
              <a:rPr lang="en-US" sz="900" dirty="0">
                <a:solidFill>
                  <a:schemeClr val="tx1"/>
                </a:solidFill>
              </a:rPr>
              <a:t>Soporte</a:t>
            </a:r>
            <a:endParaRPr lang="en-US" sz="900" dirty="0"/>
          </a:p>
        </p:txBody>
      </p:sp>
      <p:sp>
        <p:nvSpPr>
          <p:cNvPr id="15" name="Coordinación circle"/>
          <p:cNvSpPr/>
          <p:nvPr/>
        </p:nvSpPr>
        <p:spPr>
          <a:xfrm>
            <a:off x="3429000" y="1920240"/>
            <a:ext cx="502920" cy="502920"/>
          </a:xfrm>
          <a:prstGeom prst="ellipse">
            <a:avLst/>
          </a:prstGeom>
          <a:solidFill>
            <a:srgbClr val="2A9D8F"/>
          </a:solidFill>
          <a:ln/>
        </p:spPr>
      </p:sp>
      <p:pic>
        <p:nvPicPr>
          <p:cNvPr id="16" name="Coordinación icon" descr="Coordinación">    </p:cNvPr>
          <p:cNvPicPr>
            <a:picLocks noChangeAspect="1"/>
          </p:cNvPicPr>
          <p:nvPr/>
        </p:nvPicPr>
        <p:blipFill>
          <a:blip r:embed="rId4"/>
          <a:stretch>
            <a:fillRect/>
          </a:stretch>
        </p:blipFill>
        <p:spPr>
          <a:xfrm>
            <a:off x="3549701" y="2040941"/>
            <a:ext cx="261518" cy="261518"/>
          </a:xfrm>
          <a:prstGeom prst="rect">
            <a:avLst/>
          </a:prstGeom>
        </p:spPr>
      </p:pic>
      <p:sp>
        <p:nvSpPr>
          <p:cNvPr id="17" name="Text 11"/>
          <p:cNvSpPr txBox="1"/>
          <p:nvPr/>
        </p:nvSpPr>
        <p:spPr>
          <a:xfrm>
            <a:off x="3200400" y="2468880"/>
            <a:ext cx="960120" cy="201168"/>
          </a:xfrm>
          <a:prstGeom prst="rect">
            <a:avLst/>
          </a:prstGeom>
          <a:noFill/>
          <a:ln/>
        </p:spPr>
        <p:txBody>
          <a:bodyPr wrap="square" lIns="0" tIns="0" rIns="0" bIns="0" rtlCol="0" anchor="t"/>
          <a:lstStyle/>
          <a:p>
            <a:pPr algn="ctr" indent="0" marL="0">
              <a:buNone/>
            </a:pPr>
            <a:r>
              <a:rPr lang="en-US" sz="900" dirty="0">
                <a:solidFill>
                  <a:schemeClr val="tx1"/>
                </a:solidFill>
              </a:rPr>
              <a:t>Coordinación</a:t>
            </a:r>
            <a:endParaRPr lang="en-US" sz="900" dirty="0"/>
          </a:p>
        </p:txBody>
      </p:sp>
      <p:sp>
        <p:nvSpPr>
          <p:cNvPr id="18" name="Text 12"/>
          <p:cNvSpPr txBox="1"/>
          <p:nvPr/>
        </p:nvSpPr>
        <p:spPr>
          <a:xfrm>
            <a:off x="685800" y="283464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Encuesta breve para conocer los problemas reales</a:t>
            </a:r>
            <a:endParaRPr lang="en-US" sz="1200" dirty="0"/>
          </a:p>
          <a:p>
            <a:pPr marL="342900" indent="-342900">
              <a:spcAft>
                <a:spcPts val="600"/>
              </a:spcAft>
              <a:buSzPct val="100000"/>
              <a:buChar char="•"/>
            </a:pPr>
            <a:r>
              <a:rPr lang="en-US" sz="1200" dirty="0">
                <a:solidFill>
                  <a:schemeClr val="tx1"/>
                </a:solidFill>
              </a:rPr>
              <a:t>Buzón de sugerencias permanente</a:t>
            </a:r>
            <a:endParaRPr lang="en-US" sz="1200" dirty="0"/>
          </a:p>
          <a:p>
            <a:pPr marL="342900" indent="-342900">
              <a:spcAft>
                <a:spcPts val="600"/>
              </a:spcAft>
              <a:buSzPct val="100000"/>
              <a:buChar char="•"/>
            </a:pPr>
            <a:r>
              <a:rPr lang="en-US" sz="1200" dirty="0">
                <a:solidFill>
                  <a:schemeClr val="tx1"/>
                </a:solidFill>
              </a:rPr>
              <a:t>Revisión mensual de indicadores con todas las áreas</a:t>
            </a:r>
            <a:endParaRPr lang="en-US" sz="1200" dirty="0"/>
          </a:p>
        </p:txBody>
      </p:sp>
      <p:sp>
        <p:nvSpPr>
          <p:cNvPr id="19" name="Text 13"/>
          <p:cNvSpPr txBox="1"/>
          <p:nvPr/>
        </p:nvSpPr>
        <p:spPr>
          <a:xfrm>
            <a:off x="685800" y="4023360"/>
            <a:ext cx="3474720" cy="457200"/>
          </a:xfrm>
          <a:prstGeom prst="rect">
            <a:avLst/>
          </a:prstGeom>
          <a:noFill/>
          <a:ln/>
        </p:spPr>
        <p:txBody>
          <a:bodyPr wrap="square" lIns="0" tIns="0" rIns="0" bIns="0" rtlCol="0" anchor="t"/>
          <a:lstStyle/>
          <a:p>
            <a:pPr indent="0" marL="0">
              <a:buNone/>
            </a:pPr>
            <a:r>
              <a:rPr lang="en-US" sz="1100" i="1" dirty="0">
                <a:solidFill>
                  <a:schemeClr val="accent4"/>
                </a:solidFill>
              </a:rPr>
              <a:t>Por qué: el servicio funciona solo si funciona para todos, no área por área.</a:t>
            </a:r>
            <a:endParaRPr lang="en-US" sz="1100" dirty="0"/>
          </a:p>
        </p:txBody>
      </p:sp>
      <p:sp>
        <p:nvSpPr>
          <p:cNvPr id="20" name="Text 14"/>
          <p:cNvSpPr txBox="1"/>
          <p:nvPr/>
        </p:nvSpPr>
        <p:spPr>
          <a:xfrm>
            <a:off x="4572000" y="1371600"/>
            <a:ext cx="4114800" cy="320040"/>
          </a:xfrm>
          <a:prstGeom prst="rect">
            <a:avLst/>
          </a:prstGeom>
          <a:noFill/>
          <a:ln/>
        </p:spPr>
        <p:txBody>
          <a:bodyPr wrap="square" lIns="0" tIns="0" rIns="0" bIns="0" rtlCol="0" anchor="t"/>
          <a:lstStyle/>
          <a:p>
            <a:pPr indent="0" marL="0">
              <a:buNone/>
            </a:pPr>
            <a:r>
              <a:rPr lang="en-US" sz="1500" b="1" dirty="0">
                <a:solidFill>
                  <a:schemeClr val="tx2"/>
                </a:solidFill>
              </a:rPr>
              <a:t>5 · Pensar holísticamente: las 4 dimensiones</a:t>
            </a:r>
            <a:endParaRPr lang="en-US" sz="1500" dirty="0"/>
          </a:p>
        </p:txBody>
      </p:sp>
      <p:sp>
        <p:nvSpPr>
          <p:cNvPr id="21" name="Personas"/>
          <p:cNvSpPr/>
          <p:nvPr/>
        </p:nvSpPr>
        <p:spPr>
          <a:xfrm>
            <a:off x="4572000" y="1783080"/>
            <a:ext cx="1965960" cy="1280160"/>
          </a:xfrm>
          <a:prstGeom prst="roundRect">
            <a:avLst>
              <a:gd name="adj" fmla="val 5714"/>
            </a:avLst>
          </a:prstGeom>
          <a:solidFill>
            <a:schemeClr val="bg2"/>
          </a:solidFill>
          <a:ln/>
        </p:spPr>
      </p:sp>
      <p:sp>
        <p:nvSpPr>
          <p:cNvPr id="22" name="Personas circle"/>
          <p:cNvSpPr/>
          <p:nvPr/>
        </p:nvSpPr>
        <p:spPr>
          <a:xfrm>
            <a:off x="4709160" y="1920240"/>
            <a:ext cx="384048" cy="384048"/>
          </a:xfrm>
          <a:prstGeom prst="ellipse">
            <a:avLst/>
          </a:prstGeom>
          <a:solidFill>
            <a:srgbClr val="264653"/>
          </a:solidFill>
          <a:ln/>
        </p:spPr>
      </p:sp>
      <p:pic>
        <p:nvPicPr>
          <p:cNvPr id="23" name="Personas icon" descr="Personas">    </p:cNvPr>
          <p:cNvPicPr>
            <a:picLocks noChangeAspect="1"/>
          </p:cNvPicPr>
          <p:nvPr/>
        </p:nvPicPr>
        <p:blipFill>
          <a:blip r:embed="rId5"/>
          <a:stretch>
            <a:fillRect/>
          </a:stretch>
        </p:blipFill>
        <p:spPr>
          <a:xfrm>
            <a:off x="4801332" y="2012412"/>
            <a:ext cx="199705" cy="199705"/>
          </a:xfrm>
          <a:prstGeom prst="rect">
            <a:avLst/>
          </a:prstGeom>
        </p:spPr>
      </p:pic>
      <p:sp>
        <p:nvSpPr>
          <p:cNvPr id="24" name="Text 17"/>
          <p:cNvSpPr txBox="1"/>
          <p:nvPr/>
        </p:nvSpPr>
        <p:spPr>
          <a:xfrm>
            <a:off x="5166360" y="1892808"/>
            <a:ext cx="1280160" cy="438912"/>
          </a:xfrm>
          <a:prstGeom prst="rect">
            <a:avLst/>
          </a:prstGeom>
          <a:noFill/>
          <a:ln/>
        </p:spPr>
        <p:txBody>
          <a:bodyPr wrap="square" lIns="0" tIns="0" rIns="0" bIns="0" rtlCol="0" anchor="ctr"/>
          <a:lstStyle/>
          <a:p>
            <a:pPr indent="0" marL="0">
              <a:buNone/>
            </a:pPr>
            <a:r>
              <a:rPr lang="en-US" sz="1100" b="1" dirty="0">
                <a:solidFill>
                  <a:schemeClr val="tx2"/>
                </a:solidFill>
              </a:rPr>
              <a:t>Personas</a:t>
            </a:r>
            <a:endParaRPr lang="en-US" sz="1100" dirty="0"/>
          </a:p>
        </p:txBody>
      </p:sp>
      <p:sp>
        <p:nvSpPr>
          <p:cNvPr id="25" name="Text 18"/>
          <p:cNvSpPr txBox="1"/>
          <p:nvPr/>
        </p:nvSpPr>
        <p:spPr>
          <a:xfrm>
            <a:off x="4709160" y="2404872"/>
            <a:ext cx="1737360" cy="621792"/>
          </a:xfrm>
          <a:prstGeom prst="rect">
            <a:avLst/>
          </a:prstGeom>
          <a:noFill/>
          <a:ln/>
        </p:spPr>
        <p:txBody>
          <a:bodyPr wrap="square" lIns="0" tIns="0" rIns="0" bIns="0" rtlCol="0" anchor="t"/>
          <a:lstStyle/>
          <a:p>
            <a:pPr indent="0" marL="0">
              <a:buNone/>
            </a:pPr>
            <a:r>
              <a:rPr lang="en-US" sz="1100" dirty="0">
                <a:solidFill>
                  <a:schemeClr val="tx1"/>
                </a:solidFill>
              </a:rPr>
              <a:t>¿Soporte está capacitado? ¿Quién atiende qué?</a:t>
            </a:r>
            <a:endParaRPr lang="en-US" sz="1100" dirty="0"/>
          </a:p>
        </p:txBody>
      </p:sp>
      <p:sp>
        <p:nvSpPr>
          <p:cNvPr id="26" name="Información y tecnología"/>
          <p:cNvSpPr/>
          <p:nvPr/>
        </p:nvSpPr>
        <p:spPr>
          <a:xfrm>
            <a:off x="6675120" y="1783080"/>
            <a:ext cx="1965960" cy="1280160"/>
          </a:xfrm>
          <a:prstGeom prst="roundRect">
            <a:avLst>
              <a:gd name="adj" fmla="val 5714"/>
            </a:avLst>
          </a:prstGeom>
          <a:solidFill>
            <a:schemeClr val="bg2"/>
          </a:solidFill>
          <a:ln/>
        </p:spPr>
      </p:sp>
      <p:sp>
        <p:nvSpPr>
          <p:cNvPr id="27" name="Información y tecnología circle"/>
          <p:cNvSpPr/>
          <p:nvPr/>
        </p:nvSpPr>
        <p:spPr>
          <a:xfrm>
            <a:off x="6812280" y="1920240"/>
            <a:ext cx="384048" cy="384048"/>
          </a:xfrm>
          <a:prstGeom prst="ellipse">
            <a:avLst/>
          </a:prstGeom>
          <a:solidFill>
            <a:srgbClr val="264653"/>
          </a:solidFill>
          <a:ln/>
        </p:spPr>
      </p:sp>
      <p:pic>
        <p:nvPicPr>
          <p:cNvPr id="28" name="Información y tecnología icon" descr="Información y tecnología">    </p:cNvPr>
          <p:cNvPicPr>
            <a:picLocks noChangeAspect="1"/>
          </p:cNvPicPr>
          <p:nvPr/>
        </p:nvPicPr>
        <p:blipFill>
          <a:blip r:embed="rId6"/>
          <a:stretch>
            <a:fillRect/>
          </a:stretch>
        </p:blipFill>
        <p:spPr>
          <a:xfrm>
            <a:off x="6904452" y="2012412"/>
            <a:ext cx="199705" cy="199705"/>
          </a:xfrm>
          <a:prstGeom prst="rect">
            <a:avLst/>
          </a:prstGeom>
        </p:spPr>
      </p:pic>
      <p:sp>
        <p:nvSpPr>
          <p:cNvPr id="29" name="Text 21"/>
          <p:cNvSpPr txBox="1"/>
          <p:nvPr/>
        </p:nvSpPr>
        <p:spPr>
          <a:xfrm>
            <a:off x="7269480" y="1892808"/>
            <a:ext cx="1280160" cy="438912"/>
          </a:xfrm>
          <a:prstGeom prst="rect">
            <a:avLst/>
          </a:prstGeom>
          <a:noFill/>
          <a:ln/>
        </p:spPr>
        <p:txBody>
          <a:bodyPr wrap="square" lIns="0" tIns="0" rIns="0" bIns="0" rtlCol="0" anchor="ctr"/>
          <a:lstStyle/>
          <a:p>
            <a:pPr indent="0" marL="0">
              <a:buNone/>
            </a:pPr>
            <a:r>
              <a:rPr lang="en-US" sz="1100" b="1" dirty="0">
                <a:solidFill>
                  <a:schemeClr val="tx2"/>
                </a:solidFill>
              </a:rPr>
              <a:t>Información y tecnología</a:t>
            </a:r>
            <a:endParaRPr lang="en-US" sz="1100" dirty="0"/>
          </a:p>
        </p:txBody>
      </p:sp>
      <p:sp>
        <p:nvSpPr>
          <p:cNvPr id="30" name="Text 22"/>
          <p:cNvSpPr txBox="1"/>
          <p:nvPr/>
        </p:nvSpPr>
        <p:spPr>
          <a:xfrm>
            <a:off x="6812280" y="2404872"/>
            <a:ext cx="1737360" cy="621792"/>
          </a:xfrm>
          <a:prstGeom prst="rect">
            <a:avLst/>
          </a:prstGeom>
          <a:noFill/>
          <a:ln/>
        </p:spPr>
        <p:txBody>
          <a:bodyPr wrap="square" lIns="0" tIns="0" rIns="0" bIns="0" rtlCol="0" anchor="t"/>
          <a:lstStyle/>
          <a:p>
            <a:pPr indent="0" marL="0">
              <a:buNone/>
            </a:pPr>
            <a:r>
              <a:rPr lang="en-US" sz="1100" dirty="0">
                <a:solidFill>
                  <a:schemeClr val="tx1"/>
                </a:solidFill>
              </a:rPr>
              <a:t>¿Qué datos del Excel migran? ¿Alcanza la infraestructura?</a:t>
            </a:r>
            <a:endParaRPr lang="en-US" sz="1100" dirty="0"/>
          </a:p>
        </p:txBody>
      </p:sp>
      <p:sp>
        <p:nvSpPr>
          <p:cNvPr id="31" name="Socios y proveedores"/>
          <p:cNvSpPr/>
          <p:nvPr/>
        </p:nvSpPr>
        <p:spPr>
          <a:xfrm>
            <a:off x="4572000" y="3200400"/>
            <a:ext cx="1965960" cy="1280160"/>
          </a:xfrm>
          <a:prstGeom prst="roundRect">
            <a:avLst>
              <a:gd name="adj" fmla="val 5714"/>
            </a:avLst>
          </a:prstGeom>
          <a:solidFill>
            <a:schemeClr val="bg2"/>
          </a:solidFill>
          <a:ln/>
        </p:spPr>
      </p:sp>
      <p:sp>
        <p:nvSpPr>
          <p:cNvPr id="32" name="Socios y proveedores circle"/>
          <p:cNvSpPr/>
          <p:nvPr/>
        </p:nvSpPr>
        <p:spPr>
          <a:xfrm>
            <a:off x="4709160" y="3337560"/>
            <a:ext cx="384048" cy="384048"/>
          </a:xfrm>
          <a:prstGeom prst="ellipse">
            <a:avLst/>
          </a:prstGeom>
          <a:solidFill>
            <a:srgbClr val="264653"/>
          </a:solidFill>
          <a:ln/>
        </p:spPr>
      </p:sp>
      <p:pic>
        <p:nvPicPr>
          <p:cNvPr id="33" name="Socios y proveedores icon" descr="Socios y proveedores">    </p:cNvPr>
          <p:cNvPicPr>
            <a:picLocks noChangeAspect="1"/>
          </p:cNvPicPr>
          <p:nvPr/>
        </p:nvPicPr>
        <p:blipFill>
          <a:blip r:embed="rId7"/>
          <a:stretch>
            <a:fillRect/>
          </a:stretch>
        </p:blipFill>
        <p:spPr>
          <a:xfrm>
            <a:off x="4801332" y="3429732"/>
            <a:ext cx="199705" cy="199705"/>
          </a:xfrm>
          <a:prstGeom prst="rect">
            <a:avLst/>
          </a:prstGeom>
        </p:spPr>
      </p:pic>
      <p:sp>
        <p:nvSpPr>
          <p:cNvPr id="34" name="Text 25"/>
          <p:cNvSpPr txBox="1"/>
          <p:nvPr/>
        </p:nvSpPr>
        <p:spPr>
          <a:xfrm>
            <a:off x="5166360" y="3310128"/>
            <a:ext cx="1280160" cy="438912"/>
          </a:xfrm>
          <a:prstGeom prst="rect">
            <a:avLst/>
          </a:prstGeom>
          <a:noFill/>
          <a:ln/>
        </p:spPr>
        <p:txBody>
          <a:bodyPr wrap="square" lIns="0" tIns="0" rIns="0" bIns="0" rtlCol="0" anchor="ctr"/>
          <a:lstStyle/>
          <a:p>
            <a:pPr indent="0" marL="0">
              <a:buNone/>
            </a:pPr>
            <a:r>
              <a:rPr lang="en-US" sz="1100" b="1" dirty="0">
                <a:solidFill>
                  <a:schemeClr val="tx2"/>
                </a:solidFill>
              </a:rPr>
              <a:t>Socios y proveedores</a:t>
            </a:r>
            <a:endParaRPr lang="en-US" sz="1100" dirty="0"/>
          </a:p>
        </p:txBody>
      </p:sp>
      <p:sp>
        <p:nvSpPr>
          <p:cNvPr id="35" name="Text 26"/>
          <p:cNvSpPr txBox="1"/>
          <p:nvPr/>
        </p:nvSpPr>
        <p:spPr>
          <a:xfrm>
            <a:off x="4709160" y="3822192"/>
            <a:ext cx="1737360" cy="621792"/>
          </a:xfrm>
          <a:prstGeom prst="rect">
            <a:avLst/>
          </a:prstGeom>
          <a:noFill/>
          <a:ln/>
        </p:spPr>
        <p:txBody>
          <a:bodyPr wrap="square" lIns="0" tIns="0" rIns="0" bIns="0" rtlCol="0" anchor="t"/>
          <a:lstStyle/>
          <a:p>
            <a:pPr indent="0" marL="0">
              <a:buNone/>
            </a:pPr>
            <a:r>
              <a:rPr lang="en-US" sz="1100" dirty="0">
                <a:solidFill>
                  <a:schemeClr val="tx1"/>
                </a:solidFill>
              </a:rPr>
              <a:t>¿Dependemos de un proveedor externo?</a:t>
            </a:r>
            <a:endParaRPr lang="en-US" sz="1100" dirty="0"/>
          </a:p>
        </p:txBody>
      </p:sp>
      <p:sp>
        <p:nvSpPr>
          <p:cNvPr id="36" name="Procesos"/>
          <p:cNvSpPr/>
          <p:nvPr/>
        </p:nvSpPr>
        <p:spPr>
          <a:xfrm>
            <a:off x="6675120" y="3200400"/>
            <a:ext cx="1965960" cy="1280160"/>
          </a:xfrm>
          <a:prstGeom prst="roundRect">
            <a:avLst>
              <a:gd name="adj" fmla="val 5714"/>
            </a:avLst>
          </a:prstGeom>
          <a:solidFill>
            <a:schemeClr val="bg2"/>
          </a:solidFill>
          <a:ln/>
        </p:spPr>
      </p:sp>
      <p:sp>
        <p:nvSpPr>
          <p:cNvPr id="37" name="Procesos circle"/>
          <p:cNvSpPr/>
          <p:nvPr/>
        </p:nvSpPr>
        <p:spPr>
          <a:xfrm>
            <a:off x="6812280" y="3337560"/>
            <a:ext cx="384048" cy="384048"/>
          </a:xfrm>
          <a:prstGeom prst="ellipse">
            <a:avLst/>
          </a:prstGeom>
          <a:solidFill>
            <a:srgbClr val="264653"/>
          </a:solidFill>
          <a:ln/>
        </p:spPr>
      </p:sp>
      <p:pic>
        <p:nvPicPr>
          <p:cNvPr id="38" name="Procesos icon" descr="Procesos">    </p:cNvPr>
          <p:cNvPicPr>
            <a:picLocks noChangeAspect="1"/>
          </p:cNvPicPr>
          <p:nvPr/>
        </p:nvPicPr>
        <p:blipFill>
          <a:blip r:embed="rId8"/>
          <a:stretch>
            <a:fillRect/>
          </a:stretch>
        </p:blipFill>
        <p:spPr>
          <a:xfrm>
            <a:off x="6904452" y="3429732"/>
            <a:ext cx="199705" cy="199705"/>
          </a:xfrm>
          <a:prstGeom prst="rect">
            <a:avLst/>
          </a:prstGeom>
        </p:spPr>
      </p:pic>
      <p:sp>
        <p:nvSpPr>
          <p:cNvPr id="39" name="Text 29"/>
          <p:cNvSpPr txBox="1"/>
          <p:nvPr/>
        </p:nvSpPr>
        <p:spPr>
          <a:xfrm>
            <a:off x="7269480" y="3310128"/>
            <a:ext cx="1280160" cy="438912"/>
          </a:xfrm>
          <a:prstGeom prst="rect">
            <a:avLst/>
          </a:prstGeom>
          <a:noFill/>
          <a:ln/>
        </p:spPr>
        <p:txBody>
          <a:bodyPr wrap="square" lIns="0" tIns="0" rIns="0" bIns="0" rtlCol="0" anchor="ctr"/>
          <a:lstStyle/>
          <a:p>
            <a:pPr indent="0" marL="0">
              <a:buNone/>
            </a:pPr>
            <a:r>
              <a:rPr lang="en-US" sz="1100" b="1" dirty="0">
                <a:solidFill>
                  <a:schemeClr val="tx2"/>
                </a:solidFill>
              </a:rPr>
              <a:t>Procesos</a:t>
            </a:r>
            <a:endParaRPr lang="en-US" sz="1100" dirty="0"/>
          </a:p>
        </p:txBody>
      </p:sp>
      <p:sp>
        <p:nvSpPr>
          <p:cNvPr id="40" name="Text 30"/>
          <p:cNvSpPr txBox="1"/>
          <p:nvPr/>
        </p:nvSpPr>
        <p:spPr>
          <a:xfrm>
            <a:off x="6812280" y="3822192"/>
            <a:ext cx="1737360" cy="621792"/>
          </a:xfrm>
          <a:prstGeom prst="rect">
            <a:avLst/>
          </a:prstGeom>
          <a:noFill/>
          <a:ln/>
        </p:spPr>
        <p:txBody>
          <a:bodyPr wrap="square" lIns="0" tIns="0" rIns="0" bIns="0" rtlCol="0" anchor="t"/>
          <a:lstStyle/>
          <a:p>
            <a:pPr indent="0" marL="0">
              <a:buNone/>
            </a:pPr>
            <a:r>
              <a:rPr lang="en-US" sz="1100" dirty="0">
                <a:solidFill>
                  <a:schemeClr val="tx1"/>
                </a:solidFill>
              </a:rPr>
              <a:t>¿Qué pasos de la atención sobran?</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PRINCIPIOS 6 Y 7</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Simplificar primero, automatizar después</a:t>
            </a:r>
            <a:endParaRPr lang="en-US" sz="2800" dirty="0"/>
          </a:p>
        </p:txBody>
      </p:sp>
      <p:sp>
        <p:nvSpPr>
          <p:cNvPr id="4" name="portal mockup"/>
          <p:cNvSpPr/>
          <p:nvPr/>
        </p:nvSpPr>
        <p:spPr>
          <a:xfrm>
            <a:off x="457200" y="1371600"/>
            <a:ext cx="3657600" cy="2743200"/>
          </a:xfrm>
          <a:prstGeom prst="roundRect">
            <a:avLst>
              <a:gd name="adj" fmla="val 2000"/>
            </a:avLst>
          </a:prstGeom>
          <a:solidFill>
            <a:schemeClr val="bg1"/>
          </a:solidFill>
          <a:ln w="9525">
            <a:solidFill>
              <a:srgbClr val="6B7B80"/>
            </a:solidFill>
            <a:prstDash val="solid"/>
          </a:ln>
          <a:effectLst>
            <a:outerShdw sx="100000" sy="100000" kx="0" ky="0" algn="bl" rotWithShape="0" blurRad="76200" dist="25400" dir="5400000">
              <a:srgbClr val="000000">
                <a:alpha val="12000"/>
              </a:srgbClr>
            </a:outerShdw>
          </a:effectLst>
        </p:spPr>
      </p:sp>
      <p:sp>
        <p:nvSpPr>
          <p:cNvPr id="5" name="mockup header"/>
          <p:cNvSpPr/>
          <p:nvPr/>
        </p:nvSpPr>
        <p:spPr>
          <a:xfrm>
            <a:off x="475488" y="1389888"/>
            <a:ext cx="3621024" cy="347472"/>
          </a:xfrm>
          <a:prstGeom prst="rect">
            <a:avLst/>
          </a:prstGeom>
          <a:solidFill>
            <a:schemeClr val="tx2"/>
          </a:solidFill>
          <a:ln/>
        </p:spPr>
      </p:sp>
      <p:sp>
        <p:nvSpPr>
          <p:cNvPr id="6" name="Text 4"/>
          <p:cNvSpPr txBox="1"/>
          <p:nvPr/>
        </p:nvSpPr>
        <p:spPr>
          <a:xfrm>
            <a:off x="640080" y="1417320"/>
            <a:ext cx="3291840" cy="292608"/>
          </a:xfrm>
          <a:prstGeom prst="rect">
            <a:avLst/>
          </a:prstGeom>
          <a:noFill/>
          <a:ln/>
        </p:spPr>
        <p:txBody>
          <a:bodyPr wrap="square" lIns="0" tIns="0" rIns="0" bIns="0" rtlCol="0" anchor="ctr"/>
          <a:lstStyle/>
          <a:p>
            <a:pPr indent="0" marL="0">
              <a:buNone/>
            </a:pPr>
            <a:r>
              <a:rPr lang="en-US" sz="1100" b="1" dirty="0">
                <a:solidFill>
                  <a:schemeClr val="bg1"/>
                </a:solidFill>
              </a:rPr>
              <a:t>Portal de soporte · Innovatec</a:t>
            </a:r>
            <a:endParaRPr lang="en-US" sz="1100" dirty="0"/>
          </a:p>
        </p:txBody>
      </p:sp>
      <p:sp>
        <p:nvSpPr>
          <p:cNvPr id="7" name="field 1"/>
          <p:cNvSpPr/>
          <p:nvPr/>
        </p:nvSpPr>
        <p:spPr>
          <a:xfrm>
            <a:off x="685800" y="1874520"/>
            <a:ext cx="3200400" cy="411480"/>
          </a:xfrm>
          <a:prstGeom prst="rect">
            <a:avLst/>
          </a:prstGeom>
          <a:solidFill>
            <a:schemeClr val="bg1"/>
          </a:solidFill>
          <a:ln w="12700">
            <a:solidFill>
              <a:srgbClr val="E8F3F1"/>
            </a:solidFill>
            <a:prstDash val="solid"/>
          </a:ln>
        </p:spPr>
      </p:sp>
      <p:sp>
        <p:nvSpPr>
          <p:cNvPr id="8" name="Text 6"/>
          <p:cNvSpPr txBox="1"/>
          <p:nvPr/>
        </p:nvSpPr>
        <p:spPr>
          <a:xfrm>
            <a:off x="777240" y="1874520"/>
            <a:ext cx="3017520" cy="411480"/>
          </a:xfrm>
          <a:prstGeom prst="rect">
            <a:avLst/>
          </a:prstGeom>
          <a:noFill/>
          <a:ln/>
        </p:spPr>
        <p:txBody>
          <a:bodyPr wrap="square" lIns="0" tIns="0" rIns="0" bIns="0" rtlCol="0" anchor="ctr"/>
          <a:lstStyle/>
          <a:p>
            <a:pPr indent="0" marL="0">
              <a:buNone/>
            </a:pPr>
            <a:r>
              <a:rPr lang="en-US" sz="1100" dirty="0">
                <a:solidFill>
                  <a:schemeClr val="accent6"/>
                </a:solidFill>
              </a:rPr>
              <a:t>Código de estudiante o docente</a:t>
            </a:r>
            <a:endParaRPr lang="en-US" sz="1100" dirty="0"/>
          </a:p>
        </p:txBody>
      </p:sp>
      <p:sp>
        <p:nvSpPr>
          <p:cNvPr id="9" name="field 2"/>
          <p:cNvSpPr/>
          <p:nvPr/>
        </p:nvSpPr>
        <p:spPr>
          <a:xfrm>
            <a:off x="685800" y="2423160"/>
            <a:ext cx="3200400" cy="411480"/>
          </a:xfrm>
          <a:prstGeom prst="rect">
            <a:avLst/>
          </a:prstGeom>
          <a:solidFill>
            <a:schemeClr val="bg1"/>
          </a:solidFill>
          <a:ln w="12700">
            <a:solidFill>
              <a:srgbClr val="E8F3F1"/>
            </a:solidFill>
            <a:prstDash val="solid"/>
          </a:ln>
        </p:spPr>
      </p:sp>
      <p:sp>
        <p:nvSpPr>
          <p:cNvPr id="10" name="Text 8"/>
          <p:cNvSpPr txBox="1"/>
          <p:nvPr/>
        </p:nvSpPr>
        <p:spPr>
          <a:xfrm>
            <a:off x="777240" y="2423160"/>
            <a:ext cx="3017520" cy="411480"/>
          </a:xfrm>
          <a:prstGeom prst="rect">
            <a:avLst/>
          </a:prstGeom>
          <a:noFill/>
          <a:ln/>
        </p:spPr>
        <p:txBody>
          <a:bodyPr wrap="square" lIns="0" tIns="0" rIns="0" bIns="0" rtlCol="0" anchor="ctr"/>
          <a:lstStyle/>
          <a:p>
            <a:pPr indent="0" marL="0">
              <a:buNone/>
            </a:pPr>
            <a:r>
              <a:rPr lang="en-US" sz="1100" dirty="0">
                <a:solidFill>
                  <a:schemeClr val="accent6"/>
                </a:solidFill>
              </a:rPr>
              <a:t>Categoría  ▾</a:t>
            </a:r>
            <a:endParaRPr lang="en-US" sz="1100" dirty="0"/>
          </a:p>
        </p:txBody>
      </p:sp>
      <p:sp>
        <p:nvSpPr>
          <p:cNvPr id="11" name="field 3"/>
          <p:cNvSpPr/>
          <p:nvPr/>
        </p:nvSpPr>
        <p:spPr>
          <a:xfrm>
            <a:off x="685800" y="2971800"/>
            <a:ext cx="3200400" cy="685800"/>
          </a:xfrm>
          <a:prstGeom prst="rect">
            <a:avLst/>
          </a:prstGeom>
          <a:solidFill>
            <a:schemeClr val="bg1"/>
          </a:solidFill>
          <a:ln w="12700">
            <a:solidFill>
              <a:srgbClr val="E8F3F1"/>
            </a:solidFill>
            <a:prstDash val="solid"/>
          </a:ln>
        </p:spPr>
      </p:sp>
      <p:sp>
        <p:nvSpPr>
          <p:cNvPr id="12" name="Text 10"/>
          <p:cNvSpPr txBox="1"/>
          <p:nvPr/>
        </p:nvSpPr>
        <p:spPr>
          <a:xfrm>
            <a:off x="777240" y="2971800"/>
            <a:ext cx="3017520" cy="411480"/>
          </a:xfrm>
          <a:prstGeom prst="rect">
            <a:avLst/>
          </a:prstGeom>
          <a:noFill/>
          <a:ln/>
        </p:spPr>
        <p:txBody>
          <a:bodyPr wrap="square" lIns="0" tIns="0" rIns="0" bIns="0" rtlCol="0" anchor="ctr"/>
          <a:lstStyle/>
          <a:p>
            <a:pPr indent="0" marL="0">
              <a:buNone/>
            </a:pPr>
            <a:r>
              <a:rPr lang="en-US" sz="1100" dirty="0">
                <a:solidFill>
                  <a:schemeClr val="accent6"/>
                </a:solidFill>
              </a:rPr>
              <a:t>Describe tu problema</a:t>
            </a:r>
            <a:endParaRPr lang="en-US" sz="1100" dirty="0"/>
          </a:p>
        </p:txBody>
      </p:sp>
      <p:sp>
        <p:nvSpPr>
          <p:cNvPr id="13" name="send button"/>
          <p:cNvSpPr/>
          <p:nvPr/>
        </p:nvSpPr>
        <p:spPr>
          <a:xfrm>
            <a:off x="2606040" y="3611880"/>
            <a:ext cx="1280160" cy="365760"/>
          </a:xfrm>
          <a:prstGeom prst="roundRect">
            <a:avLst>
              <a:gd name="adj" fmla="val 15000"/>
            </a:avLst>
          </a:prstGeom>
          <a:solidFill>
            <a:schemeClr val="accent1"/>
          </a:solidFill>
          <a:ln/>
        </p:spPr>
      </p:sp>
      <p:sp>
        <p:nvSpPr>
          <p:cNvPr id="14" name="Text 12"/>
          <p:cNvSpPr txBox="1"/>
          <p:nvPr/>
        </p:nvSpPr>
        <p:spPr>
          <a:xfrm>
            <a:off x="2606040" y="3611880"/>
            <a:ext cx="1280160" cy="365760"/>
          </a:xfrm>
          <a:prstGeom prst="rect">
            <a:avLst/>
          </a:prstGeom>
          <a:noFill/>
          <a:ln/>
        </p:spPr>
        <p:txBody>
          <a:bodyPr wrap="square" lIns="0" tIns="0" rIns="0" bIns="0" rtlCol="0" anchor="ctr"/>
          <a:lstStyle/>
          <a:p>
            <a:pPr algn="ctr" indent="0" marL="0">
              <a:buNone/>
            </a:pPr>
            <a:r>
              <a:rPr lang="en-US" sz="1200" b="1" dirty="0">
                <a:solidFill>
                  <a:schemeClr val="bg1"/>
                </a:solidFill>
              </a:rPr>
              <a:t>Enviar</a:t>
            </a:r>
            <a:endParaRPr lang="en-US" sz="1200" dirty="0"/>
          </a:p>
        </p:txBody>
      </p:sp>
      <p:sp>
        <p:nvSpPr>
          <p:cNvPr id="15" name="Text 13"/>
          <p:cNvSpPr txBox="1"/>
          <p:nvPr/>
        </p:nvSpPr>
        <p:spPr>
          <a:xfrm>
            <a:off x="457200" y="4206240"/>
            <a:ext cx="3657600" cy="365760"/>
          </a:xfrm>
          <a:prstGeom prst="rect">
            <a:avLst/>
          </a:prstGeom>
          <a:noFill/>
          <a:ln/>
        </p:spPr>
        <p:txBody>
          <a:bodyPr wrap="square" lIns="0" tIns="0" rIns="0" bIns="0" rtlCol="0" anchor="t"/>
          <a:lstStyle/>
          <a:p>
            <a:pPr indent="0" marL="0">
              <a:buNone/>
            </a:pPr>
            <a:r>
              <a:rPr lang="en-US" sz="1200" i="1" dirty="0">
                <a:solidFill>
                  <a:schemeClr val="accent4"/>
                </a:solidFill>
              </a:rPr>
              <a:t>6 · Mantenerlo simple: tres campos, solo lo necesario</a:t>
            </a:r>
            <a:endParaRPr lang="en-US" sz="1200" dirty="0"/>
          </a:p>
        </p:txBody>
      </p:sp>
      <p:sp>
        <p:nvSpPr>
          <p:cNvPr id="16" name="Text 14"/>
          <p:cNvSpPr txBox="1"/>
          <p:nvPr/>
        </p:nvSpPr>
        <p:spPr>
          <a:xfrm>
            <a:off x="4572000" y="1371600"/>
            <a:ext cx="4114800" cy="320040"/>
          </a:xfrm>
          <a:prstGeom prst="rect">
            <a:avLst/>
          </a:prstGeom>
          <a:noFill/>
          <a:ln/>
        </p:spPr>
        <p:txBody>
          <a:bodyPr wrap="square" lIns="0" tIns="0" rIns="0" bIns="0" rtlCol="0" anchor="t"/>
          <a:lstStyle/>
          <a:p>
            <a:pPr indent="0" marL="0">
              <a:buNone/>
            </a:pPr>
            <a:r>
              <a:rPr lang="en-US" sz="1500" b="1" dirty="0">
                <a:solidFill>
                  <a:schemeClr val="tx2"/>
                </a:solidFill>
              </a:rPr>
              <a:t>7 · Optimizar y automatizar</a:t>
            </a:r>
            <a:endParaRPr lang="en-US" sz="1500" dirty="0"/>
          </a:p>
        </p:txBody>
      </p:sp>
      <p:sp>
        <p:nvSpPr>
          <p:cNvPr id="17" name="1. Optimizar circle"/>
          <p:cNvSpPr/>
          <p:nvPr/>
        </p:nvSpPr>
        <p:spPr>
          <a:xfrm>
            <a:off x="4572000" y="1828800"/>
            <a:ext cx="548640" cy="548640"/>
          </a:xfrm>
          <a:prstGeom prst="ellipse">
            <a:avLst/>
          </a:prstGeom>
          <a:solidFill>
            <a:srgbClr val="2A9D8F"/>
          </a:solidFill>
          <a:ln/>
        </p:spPr>
      </p:sp>
      <p:pic>
        <p:nvPicPr>
          <p:cNvPr id="18" name="1. Optimizar icon" descr="1. Optimizar">    </p:cNvPr>
          <p:cNvPicPr>
            <a:picLocks noChangeAspect="1"/>
          </p:cNvPicPr>
          <p:nvPr/>
        </p:nvPicPr>
        <p:blipFill>
          <a:blip r:embed="rId1"/>
          <a:stretch>
            <a:fillRect/>
          </a:stretch>
        </p:blipFill>
        <p:spPr>
          <a:xfrm>
            <a:off x="4703674" y="1960474"/>
            <a:ext cx="285293" cy="285293"/>
          </a:xfrm>
          <a:prstGeom prst="rect">
            <a:avLst/>
          </a:prstGeom>
        </p:spPr>
      </p:pic>
      <p:sp>
        <p:nvSpPr>
          <p:cNvPr id="19" name="Text 16"/>
          <p:cNvSpPr txBox="1"/>
          <p:nvPr/>
        </p:nvSpPr>
        <p:spPr>
          <a:xfrm>
            <a:off x="5257800" y="1828800"/>
            <a:ext cx="3429000" cy="274320"/>
          </a:xfrm>
          <a:prstGeom prst="rect">
            <a:avLst/>
          </a:prstGeom>
          <a:noFill/>
          <a:ln/>
        </p:spPr>
        <p:txBody>
          <a:bodyPr wrap="square" lIns="0" tIns="0" rIns="0" bIns="0" rtlCol="0" anchor="t"/>
          <a:lstStyle/>
          <a:p>
            <a:pPr indent="0" marL="0">
              <a:buNone/>
            </a:pPr>
            <a:r>
              <a:rPr lang="en-US" sz="1400" b="1" dirty="0">
                <a:solidFill>
                  <a:schemeClr val="tx2"/>
                </a:solidFill>
              </a:rPr>
              <a:t>1. Optimizar</a:t>
            </a:r>
            <a:endParaRPr lang="en-US" sz="1400" dirty="0"/>
          </a:p>
        </p:txBody>
      </p:sp>
      <p:sp>
        <p:nvSpPr>
          <p:cNvPr id="20" name="Text 17"/>
          <p:cNvSpPr txBox="1"/>
          <p:nvPr/>
        </p:nvSpPr>
        <p:spPr>
          <a:xfrm>
            <a:off x="5257800" y="2121408"/>
            <a:ext cx="3429000" cy="548640"/>
          </a:xfrm>
          <a:prstGeom prst="rect">
            <a:avLst/>
          </a:prstGeom>
          <a:noFill/>
          <a:ln/>
        </p:spPr>
        <p:txBody>
          <a:bodyPr wrap="square" lIns="0" tIns="0" rIns="0" bIns="0" rtlCol="0" anchor="t"/>
          <a:lstStyle/>
          <a:p>
            <a:pPr indent="0" marL="0">
              <a:buNone/>
            </a:pPr>
            <a:r>
              <a:rPr lang="en-US" sz="1200" dirty="0">
                <a:solidFill>
                  <a:schemeClr val="tx1"/>
                </a:solidFill>
              </a:rPr>
              <a:t>Un solo canal de entrada; eliminar el copiar y pegar entre correo y Excel.</a:t>
            </a:r>
            <a:endParaRPr lang="en-US" sz="1200" dirty="0"/>
          </a:p>
        </p:txBody>
      </p:sp>
      <p:sp>
        <p:nvSpPr>
          <p:cNvPr id="21" name="2. Automatizar circle"/>
          <p:cNvSpPr/>
          <p:nvPr/>
        </p:nvSpPr>
        <p:spPr>
          <a:xfrm>
            <a:off x="4572000" y="2788920"/>
            <a:ext cx="548640" cy="548640"/>
          </a:xfrm>
          <a:prstGeom prst="ellipse">
            <a:avLst/>
          </a:prstGeom>
          <a:solidFill>
            <a:srgbClr val="2A9D8F"/>
          </a:solidFill>
          <a:ln/>
        </p:spPr>
      </p:sp>
      <p:pic>
        <p:nvPicPr>
          <p:cNvPr id="22" name="2. Automatizar icon" descr="2. Automatizar">    </p:cNvPr>
          <p:cNvPicPr>
            <a:picLocks noChangeAspect="1"/>
          </p:cNvPicPr>
          <p:nvPr/>
        </p:nvPicPr>
        <p:blipFill>
          <a:blip r:embed="rId2"/>
          <a:stretch>
            <a:fillRect/>
          </a:stretch>
        </p:blipFill>
        <p:spPr>
          <a:xfrm>
            <a:off x="4703674" y="2920594"/>
            <a:ext cx="285293" cy="285293"/>
          </a:xfrm>
          <a:prstGeom prst="rect">
            <a:avLst/>
          </a:prstGeom>
        </p:spPr>
      </p:pic>
      <p:sp>
        <p:nvSpPr>
          <p:cNvPr id="23" name="Text 19"/>
          <p:cNvSpPr txBox="1"/>
          <p:nvPr/>
        </p:nvSpPr>
        <p:spPr>
          <a:xfrm>
            <a:off x="5257800" y="2788920"/>
            <a:ext cx="3429000" cy="274320"/>
          </a:xfrm>
          <a:prstGeom prst="rect">
            <a:avLst/>
          </a:prstGeom>
          <a:noFill/>
          <a:ln/>
        </p:spPr>
        <p:txBody>
          <a:bodyPr wrap="square" lIns="0" tIns="0" rIns="0" bIns="0" rtlCol="0" anchor="t"/>
          <a:lstStyle/>
          <a:p>
            <a:pPr indent="0" marL="0">
              <a:buNone/>
            </a:pPr>
            <a:r>
              <a:rPr lang="en-US" sz="1400" b="1" dirty="0">
                <a:solidFill>
                  <a:schemeClr val="tx2"/>
                </a:solidFill>
              </a:rPr>
              <a:t>2. Automatizar</a:t>
            </a:r>
            <a:endParaRPr lang="en-US" sz="1400" dirty="0"/>
          </a:p>
        </p:txBody>
      </p:sp>
      <p:sp>
        <p:nvSpPr>
          <p:cNvPr id="24" name="Text 20"/>
          <p:cNvSpPr txBox="1"/>
          <p:nvPr/>
        </p:nvSpPr>
        <p:spPr>
          <a:xfrm>
            <a:off x="5257800" y="3081528"/>
            <a:ext cx="3429000" cy="548640"/>
          </a:xfrm>
          <a:prstGeom prst="rect">
            <a:avLst/>
          </a:prstGeom>
          <a:noFill/>
          <a:ln/>
        </p:spPr>
        <p:txBody>
          <a:bodyPr wrap="square" lIns="0" tIns="0" rIns="0" bIns="0" rtlCol="0" anchor="t"/>
          <a:lstStyle/>
          <a:p>
            <a:pPr indent="0" marL="0">
              <a:buNone/>
            </a:pPr>
            <a:r>
              <a:rPr lang="en-US" sz="1200" dirty="0">
                <a:solidFill>
                  <a:schemeClr val="tx1"/>
                </a:solidFill>
              </a:rPr>
              <a:t>Ticket automático, asignación por categoría y aviso al usuario en cada cambio.</a:t>
            </a:r>
            <a:endParaRPr lang="en-US" sz="1200" dirty="0"/>
          </a:p>
        </p:txBody>
      </p:sp>
      <p:sp>
        <p:nvSpPr>
          <p:cNvPr id="25" name="warning box"/>
          <p:cNvSpPr/>
          <p:nvPr/>
        </p:nvSpPr>
        <p:spPr>
          <a:xfrm>
            <a:off x="4572000" y="3794760"/>
            <a:ext cx="4114800" cy="777240"/>
          </a:xfrm>
          <a:prstGeom prst="roundRect">
            <a:avLst>
              <a:gd name="adj" fmla="val 9412"/>
            </a:avLst>
          </a:prstGeom>
          <a:solidFill>
            <a:schemeClr val="accent3">
              <a:alpha val="15000"/>
            </a:schemeClr>
          </a:solidFill>
          <a:ln/>
        </p:spPr>
      </p:sp>
      <p:pic>
        <p:nvPicPr>
          <p:cNvPr id="26" name="warning icon" descr="Advertencia">    </p:cNvPr>
          <p:cNvPicPr>
            <a:picLocks noChangeAspect="1"/>
          </p:cNvPicPr>
          <p:nvPr/>
        </p:nvPicPr>
        <p:blipFill>
          <a:blip r:embed="rId3"/>
          <a:stretch>
            <a:fillRect/>
          </a:stretch>
        </p:blipFill>
        <p:spPr>
          <a:xfrm>
            <a:off x="4754880" y="4005072"/>
            <a:ext cx="347472" cy="347472"/>
          </a:xfrm>
          <a:prstGeom prst="rect">
            <a:avLst/>
          </a:prstGeom>
        </p:spPr>
      </p:pic>
      <p:sp>
        <p:nvSpPr>
          <p:cNvPr id="27" name="Text 22"/>
          <p:cNvSpPr txBox="1"/>
          <p:nvPr/>
        </p:nvSpPr>
        <p:spPr>
          <a:xfrm>
            <a:off x="5257800" y="3840480"/>
            <a:ext cx="3291840" cy="685800"/>
          </a:xfrm>
          <a:prstGeom prst="rect">
            <a:avLst/>
          </a:prstGeom>
          <a:noFill/>
          <a:ln/>
        </p:spPr>
        <p:txBody>
          <a:bodyPr wrap="square" lIns="0" tIns="0" rIns="0" bIns="0" rtlCol="0" anchor="ctr"/>
          <a:lstStyle/>
          <a:p>
            <a:pPr indent="0" marL="0">
              <a:buNone/>
            </a:pPr>
            <a:r>
              <a:rPr lang="en-US" sz="1200" b="1" dirty="0">
                <a:solidFill>
                  <a:schemeClr val="tx2"/>
                </a:solidFill>
              </a:rPr>
              <a:t>Automatizar un proceso desordenado solo produce una ineficiencia automatizada.</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PROPUESTA DE MEJORA</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Nuevo flujo del servicio</a:t>
            </a:r>
            <a:endParaRPr lang="en-US" sz="2800" dirty="0"/>
          </a:p>
        </p:txBody>
      </p:sp>
      <p:sp>
        <p:nvSpPr>
          <p:cNvPr id="4" name="Text 2"/>
          <p:cNvSpPr txBox="1"/>
          <p:nvPr/>
        </p:nvSpPr>
        <p:spPr>
          <a:xfrm>
            <a:off x="457200" y="1325880"/>
            <a:ext cx="731520" cy="274320"/>
          </a:xfrm>
          <a:prstGeom prst="rect">
            <a:avLst/>
          </a:prstGeom>
          <a:noFill/>
          <a:ln/>
        </p:spPr>
        <p:txBody>
          <a:bodyPr wrap="square" lIns="0" tIns="0" rIns="0" bIns="0" rtlCol="0" anchor="ctr"/>
          <a:lstStyle/>
          <a:p>
            <a:pPr indent="0" marL="0">
              <a:buNone/>
            </a:pPr>
            <a:r>
              <a:rPr lang="en-US" sz="1000" b="1" dirty="0">
                <a:solidFill>
                  <a:schemeClr val="accent3"/>
                </a:solidFill>
              </a:rPr>
              <a:t>ANTES</a:t>
            </a:r>
            <a:endParaRPr lang="en-US" sz="1000" dirty="0"/>
          </a:p>
        </p:txBody>
      </p:sp>
      <p:sp>
        <p:nvSpPr>
          <p:cNvPr id="5" name="before 0"/>
          <p:cNvSpPr/>
          <p:nvPr/>
        </p:nvSpPr>
        <p:spPr>
          <a:xfrm>
            <a:off x="1188720" y="1307592"/>
            <a:ext cx="1234440" cy="310896"/>
          </a:xfrm>
          <a:prstGeom prst="roundRect">
            <a:avLst>
              <a:gd name="adj" fmla="val 17647"/>
            </a:avLst>
          </a:prstGeom>
          <a:solidFill>
            <a:srgbClr val="EEEEEE"/>
          </a:solidFill>
          <a:ln/>
        </p:spPr>
      </p:sp>
      <p:sp>
        <p:nvSpPr>
          <p:cNvPr id="6" name="Text 4"/>
          <p:cNvSpPr txBox="1"/>
          <p:nvPr/>
        </p:nvSpPr>
        <p:spPr>
          <a:xfrm>
            <a:off x="1188720" y="1307592"/>
            <a:ext cx="1234440" cy="310896"/>
          </a:xfrm>
          <a:prstGeom prst="rect">
            <a:avLst/>
          </a:prstGeom>
          <a:noFill/>
          <a:ln/>
        </p:spPr>
        <p:txBody>
          <a:bodyPr wrap="square" lIns="0" tIns="0" rIns="0" bIns="0" rtlCol="0" anchor="ctr"/>
          <a:lstStyle/>
          <a:p>
            <a:pPr algn="ctr" indent="0" marL="0">
              <a:buNone/>
            </a:pPr>
            <a:r>
              <a:rPr lang="en-US" sz="1000" dirty="0">
                <a:solidFill>
                  <a:schemeClr val="accent6"/>
                </a:solidFill>
              </a:rPr>
              <a:t>WhatsApp / correo</a:t>
            </a:r>
            <a:endParaRPr lang="en-US" sz="1000" dirty="0"/>
          </a:p>
        </p:txBody>
      </p:sp>
      <p:sp>
        <p:nvSpPr>
          <p:cNvPr id="7" name="before arrow"/>
          <p:cNvSpPr/>
          <p:nvPr/>
        </p:nvSpPr>
        <p:spPr>
          <a:xfrm>
            <a:off x="2450592" y="1463040"/>
            <a:ext cx="219456" cy="0"/>
          </a:xfrm>
          <a:prstGeom prst="line">
            <a:avLst/>
          </a:prstGeom>
          <a:noFill/>
          <a:ln w="19050">
            <a:solidFill>
              <a:srgbClr val="BBBBBB"/>
            </a:solidFill>
            <a:prstDash val="solid"/>
            <a:tailEnd type="triangle"/>
          </a:ln>
        </p:spPr>
      </p:sp>
      <p:sp>
        <p:nvSpPr>
          <p:cNvPr id="8" name="before 1"/>
          <p:cNvSpPr/>
          <p:nvPr/>
        </p:nvSpPr>
        <p:spPr>
          <a:xfrm>
            <a:off x="2697480" y="1307592"/>
            <a:ext cx="1234440" cy="310896"/>
          </a:xfrm>
          <a:prstGeom prst="roundRect">
            <a:avLst>
              <a:gd name="adj" fmla="val 17647"/>
            </a:avLst>
          </a:prstGeom>
          <a:solidFill>
            <a:srgbClr val="EEEEEE"/>
          </a:solidFill>
          <a:ln/>
        </p:spPr>
      </p:sp>
      <p:sp>
        <p:nvSpPr>
          <p:cNvPr id="9" name="Text 7"/>
          <p:cNvSpPr txBox="1"/>
          <p:nvPr/>
        </p:nvSpPr>
        <p:spPr>
          <a:xfrm>
            <a:off x="2697480" y="1307592"/>
            <a:ext cx="1234440" cy="310896"/>
          </a:xfrm>
          <a:prstGeom prst="rect">
            <a:avLst/>
          </a:prstGeom>
          <a:noFill/>
          <a:ln/>
        </p:spPr>
        <p:txBody>
          <a:bodyPr wrap="square" lIns="0" tIns="0" rIns="0" bIns="0" rtlCol="0" anchor="ctr"/>
          <a:lstStyle/>
          <a:p>
            <a:pPr algn="ctr" indent="0" marL="0">
              <a:buNone/>
            </a:pPr>
            <a:r>
              <a:rPr lang="en-US" sz="1000" dirty="0">
                <a:solidFill>
                  <a:schemeClr val="accent6"/>
                </a:solidFill>
              </a:rPr>
              <a:t>Soporte</a:t>
            </a:r>
            <a:endParaRPr lang="en-US" sz="1000" dirty="0"/>
          </a:p>
        </p:txBody>
      </p:sp>
      <p:sp>
        <p:nvSpPr>
          <p:cNvPr id="10" name="before arrow"/>
          <p:cNvSpPr/>
          <p:nvPr/>
        </p:nvSpPr>
        <p:spPr>
          <a:xfrm>
            <a:off x="3959352" y="1463040"/>
            <a:ext cx="219456" cy="0"/>
          </a:xfrm>
          <a:prstGeom prst="line">
            <a:avLst/>
          </a:prstGeom>
          <a:noFill/>
          <a:ln w="19050">
            <a:solidFill>
              <a:srgbClr val="BBBBBB"/>
            </a:solidFill>
            <a:prstDash val="solid"/>
            <a:tailEnd type="triangle"/>
          </a:ln>
        </p:spPr>
      </p:sp>
      <p:sp>
        <p:nvSpPr>
          <p:cNvPr id="11" name="before 2"/>
          <p:cNvSpPr/>
          <p:nvPr/>
        </p:nvSpPr>
        <p:spPr>
          <a:xfrm>
            <a:off x="4206240" y="1307592"/>
            <a:ext cx="1234440" cy="310896"/>
          </a:xfrm>
          <a:prstGeom prst="roundRect">
            <a:avLst>
              <a:gd name="adj" fmla="val 17647"/>
            </a:avLst>
          </a:prstGeom>
          <a:solidFill>
            <a:srgbClr val="EEEEEE"/>
          </a:solidFill>
          <a:ln/>
        </p:spPr>
      </p:sp>
      <p:sp>
        <p:nvSpPr>
          <p:cNvPr id="12" name="Text 10"/>
          <p:cNvSpPr txBox="1"/>
          <p:nvPr/>
        </p:nvSpPr>
        <p:spPr>
          <a:xfrm>
            <a:off x="4206240" y="1307592"/>
            <a:ext cx="1234440" cy="310896"/>
          </a:xfrm>
          <a:prstGeom prst="rect">
            <a:avLst/>
          </a:prstGeom>
          <a:noFill/>
          <a:ln/>
        </p:spPr>
        <p:txBody>
          <a:bodyPr wrap="square" lIns="0" tIns="0" rIns="0" bIns="0" rtlCol="0" anchor="ctr"/>
          <a:lstStyle/>
          <a:p>
            <a:pPr algn="ctr" indent="0" marL="0">
              <a:buNone/>
            </a:pPr>
            <a:r>
              <a:rPr lang="en-US" sz="1000" dirty="0">
                <a:solidFill>
                  <a:schemeClr val="accent6"/>
                </a:solidFill>
              </a:rPr>
              <a:t>Excel</a:t>
            </a:r>
            <a:endParaRPr lang="en-US" sz="1000" dirty="0"/>
          </a:p>
        </p:txBody>
      </p:sp>
      <p:sp>
        <p:nvSpPr>
          <p:cNvPr id="13" name="before arrow"/>
          <p:cNvSpPr/>
          <p:nvPr/>
        </p:nvSpPr>
        <p:spPr>
          <a:xfrm>
            <a:off x="5468112" y="1463040"/>
            <a:ext cx="219456" cy="0"/>
          </a:xfrm>
          <a:prstGeom prst="line">
            <a:avLst/>
          </a:prstGeom>
          <a:noFill/>
          <a:ln w="19050">
            <a:solidFill>
              <a:srgbClr val="BBBBBB"/>
            </a:solidFill>
            <a:prstDash val="solid"/>
            <a:tailEnd type="triangle"/>
          </a:ln>
        </p:spPr>
      </p:sp>
      <p:sp>
        <p:nvSpPr>
          <p:cNvPr id="14" name="before 3"/>
          <p:cNvSpPr/>
          <p:nvPr/>
        </p:nvSpPr>
        <p:spPr>
          <a:xfrm>
            <a:off x="5715000" y="1307592"/>
            <a:ext cx="1234440" cy="310896"/>
          </a:xfrm>
          <a:prstGeom prst="roundRect">
            <a:avLst>
              <a:gd name="adj" fmla="val 17647"/>
            </a:avLst>
          </a:prstGeom>
          <a:solidFill>
            <a:srgbClr val="EEEEEE"/>
          </a:solidFill>
          <a:ln/>
        </p:spPr>
      </p:sp>
      <p:sp>
        <p:nvSpPr>
          <p:cNvPr id="15" name="Text 13"/>
          <p:cNvSpPr txBox="1"/>
          <p:nvPr/>
        </p:nvSpPr>
        <p:spPr>
          <a:xfrm>
            <a:off x="5715000" y="1307592"/>
            <a:ext cx="1234440" cy="310896"/>
          </a:xfrm>
          <a:prstGeom prst="rect">
            <a:avLst/>
          </a:prstGeom>
          <a:noFill/>
          <a:ln/>
        </p:spPr>
        <p:txBody>
          <a:bodyPr wrap="square" lIns="0" tIns="0" rIns="0" bIns="0" rtlCol="0" anchor="ctr"/>
          <a:lstStyle/>
          <a:p>
            <a:pPr algn="ctr" indent="0" marL="0">
              <a:buNone/>
            </a:pPr>
            <a:r>
              <a:rPr lang="en-US" sz="1000" dirty="0">
                <a:solidFill>
                  <a:schemeClr val="accent6"/>
                </a:solidFill>
              </a:rPr>
              <a:t>Técnico</a:t>
            </a:r>
            <a:endParaRPr lang="en-US" sz="1000" dirty="0"/>
          </a:p>
        </p:txBody>
      </p:sp>
      <p:sp>
        <p:nvSpPr>
          <p:cNvPr id="16" name="before arrow"/>
          <p:cNvSpPr/>
          <p:nvPr/>
        </p:nvSpPr>
        <p:spPr>
          <a:xfrm>
            <a:off x="6976872" y="1463040"/>
            <a:ext cx="219456" cy="0"/>
          </a:xfrm>
          <a:prstGeom prst="line">
            <a:avLst/>
          </a:prstGeom>
          <a:noFill/>
          <a:ln w="19050">
            <a:solidFill>
              <a:srgbClr val="BBBBBB"/>
            </a:solidFill>
            <a:prstDash val="solid"/>
            <a:tailEnd type="triangle"/>
          </a:ln>
        </p:spPr>
      </p:sp>
      <p:sp>
        <p:nvSpPr>
          <p:cNvPr id="17" name="before 4"/>
          <p:cNvSpPr/>
          <p:nvPr/>
        </p:nvSpPr>
        <p:spPr>
          <a:xfrm>
            <a:off x="7223760" y="1307592"/>
            <a:ext cx="1234440" cy="310896"/>
          </a:xfrm>
          <a:prstGeom prst="roundRect">
            <a:avLst>
              <a:gd name="adj" fmla="val 17647"/>
            </a:avLst>
          </a:prstGeom>
          <a:solidFill>
            <a:srgbClr val="EEEEEE"/>
          </a:solidFill>
          <a:ln/>
        </p:spPr>
      </p:sp>
      <p:sp>
        <p:nvSpPr>
          <p:cNvPr id="18" name="Text 16"/>
          <p:cNvSpPr txBox="1"/>
          <p:nvPr/>
        </p:nvSpPr>
        <p:spPr>
          <a:xfrm>
            <a:off x="7223760" y="1307592"/>
            <a:ext cx="1234440" cy="310896"/>
          </a:xfrm>
          <a:prstGeom prst="rect">
            <a:avLst/>
          </a:prstGeom>
          <a:noFill/>
          <a:ln/>
        </p:spPr>
        <p:txBody>
          <a:bodyPr wrap="square" lIns="0" tIns="0" rIns="0" bIns="0" rtlCol="0" anchor="ctr"/>
          <a:lstStyle/>
          <a:p>
            <a:pPr algn="ctr" indent="0" marL="0">
              <a:buNone/>
            </a:pPr>
            <a:r>
              <a:rPr lang="en-US" sz="1000" dirty="0">
                <a:solidFill>
                  <a:schemeClr val="accent6"/>
                </a:solidFill>
              </a:rPr>
              <a:t>Solución</a:t>
            </a:r>
            <a:endParaRPr lang="en-US" sz="1000" dirty="0"/>
          </a:p>
        </p:txBody>
      </p:sp>
      <p:sp>
        <p:nvSpPr>
          <p:cNvPr id="19" name="Text 17"/>
          <p:cNvSpPr txBox="1"/>
          <p:nvPr/>
        </p:nvSpPr>
        <p:spPr>
          <a:xfrm>
            <a:off x="457200" y="1828800"/>
            <a:ext cx="1371600" cy="274320"/>
          </a:xfrm>
          <a:prstGeom prst="rect">
            <a:avLst/>
          </a:prstGeom>
          <a:noFill/>
          <a:ln/>
        </p:spPr>
        <p:txBody>
          <a:bodyPr wrap="square" lIns="0" tIns="0" rIns="0" bIns="0" rtlCol="0" anchor="t"/>
          <a:lstStyle/>
          <a:p>
            <a:pPr indent="0" marL="0">
              <a:buNone/>
            </a:pPr>
            <a:r>
              <a:rPr lang="en-US" sz="1000" b="1" dirty="0">
                <a:solidFill>
                  <a:schemeClr val="accent1"/>
                </a:solidFill>
              </a:rPr>
              <a:t>DESPUÉS</a:t>
            </a:r>
            <a:endParaRPr lang="en-US" sz="1000" dirty="0"/>
          </a:p>
        </p:txBody>
      </p:sp>
      <p:sp>
        <p:nvSpPr>
          <p:cNvPr id="20" name="Usuario circle"/>
          <p:cNvSpPr/>
          <p:nvPr/>
        </p:nvSpPr>
        <p:spPr>
          <a:xfrm>
            <a:off x="658368" y="2194560"/>
            <a:ext cx="512064" cy="512064"/>
          </a:xfrm>
          <a:prstGeom prst="ellipse">
            <a:avLst/>
          </a:prstGeom>
          <a:solidFill>
            <a:srgbClr val="2A9D8F"/>
          </a:solidFill>
          <a:ln/>
        </p:spPr>
      </p:sp>
      <p:pic>
        <p:nvPicPr>
          <p:cNvPr id="21" name="Usuario icon" descr="Usuario">    </p:cNvPr>
          <p:cNvPicPr>
            <a:picLocks noChangeAspect="1"/>
          </p:cNvPicPr>
          <p:nvPr/>
        </p:nvPicPr>
        <p:blipFill>
          <a:blip r:embed="rId1"/>
          <a:stretch>
            <a:fillRect/>
          </a:stretch>
        </p:blipFill>
        <p:spPr>
          <a:xfrm>
            <a:off x="781263" y="2317455"/>
            <a:ext cx="266273" cy="266273"/>
          </a:xfrm>
          <a:prstGeom prst="rect">
            <a:avLst/>
          </a:prstGeom>
        </p:spPr>
      </p:pic>
      <p:sp>
        <p:nvSpPr>
          <p:cNvPr id="22" name="Text 19"/>
          <p:cNvSpPr txBox="1"/>
          <p:nvPr/>
        </p:nvSpPr>
        <p:spPr>
          <a:xfrm>
            <a:off x="4754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Usuario</a:t>
            </a:r>
            <a:endParaRPr lang="en-US" sz="1000" dirty="0"/>
          </a:p>
        </p:txBody>
      </p:sp>
      <p:sp>
        <p:nvSpPr>
          <p:cNvPr id="23" name="after arrow"/>
          <p:cNvSpPr/>
          <p:nvPr/>
        </p:nvSpPr>
        <p:spPr>
          <a:xfrm>
            <a:off x="1216152" y="2450592"/>
            <a:ext cx="310896" cy="0"/>
          </a:xfrm>
          <a:prstGeom prst="line">
            <a:avLst/>
          </a:prstGeom>
          <a:noFill/>
          <a:ln w="19050">
            <a:solidFill>
              <a:srgbClr val="6B7B80"/>
            </a:solidFill>
            <a:prstDash val="solid"/>
            <a:tailEnd type="triangle"/>
          </a:ln>
        </p:spPr>
      </p:sp>
      <p:sp>
        <p:nvSpPr>
          <p:cNvPr id="24" name="Portal de soporte circle"/>
          <p:cNvSpPr/>
          <p:nvPr/>
        </p:nvSpPr>
        <p:spPr>
          <a:xfrm>
            <a:off x="1572768" y="2194560"/>
            <a:ext cx="512064" cy="512064"/>
          </a:xfrm>
          <a:prstGeom prst="ellipse">
            <a:avLst/>
          </a:prstGeom>
          <a:solidFill>
            <a:srgbClr val="F4A261"/>
          </a:solidFill>
          <a:ln/>
        </p:spPr>
      </p:sp>
      <p:pic>
        <p:nvPicPr>
          <p:cNvPr id="25" name="Portal de soporte icon" descr="Portal de soporte">    </p:cNvPr>
          <p:cNvPicPr>
            <a:picLocks noChangeAspect="1"/>
          </p:cNvPicPr>
          <p:nvPr/>
        </p:nvPicPr>
        <p:blipFill>
          <a:blip r:embed="rId2"/>
          <a:stretch>
            <a:fillRect/>
          </a:stretch>
        </p:blipFill>
        <p:spPr>
          <a:xfrm>
            <a:off x="1695663" y="2317455"/>
            <a:ext cx="266273" cy="266273"/>
          </a:xfrm>
          <a:prstGeom prst="rect">
            <a:avLst/>
          </a:prstGeom>
        </p:spPr>
      </p:pic>
      <p:sp>
        <p:nvSpPr>
          <p:cNvPr id="26" name="Text 22"/>
          <p:cNvSpPr txBox="1"/>
          <p:nvPr/>
        </p:nvSpPr>
        <p:spPr>
          <a:xfrm>
            <a:off x="13898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Portal de soporte</a:t>
            </a:r>
            <a:endParaRPr lang="en-US" sz="1000" dirty="0"/>
          </a:p>
        </p:txBody>
      </p:sp>
      <p:sp>
        <p:nvSpPr>
          <p:cNvPr id="27" name="after arrow"/>
          <p:cNvSpPr/>
          <p:nvPr/>
        </p:nvSpPr>
        <p:spPr>
          <a:xfrm>
            <a:off x="2130552" y="2450592"/>
            <a:ext cx="310896" cy="0"/>
          </a:xfrm>
          <a:prstGeom prst="line">
            <a:avLst/>
          </a:prstGeom>
          <a:noFill/>
          <a:ln w="19050">
            <a:solidFill>
              <a:srgbClr val="6B7B80"/>
            </a:solidFill>
            <a:prstDash val="solid"/>
            <a:tailEnd type="triangle"/>
          </a:ln>
        </p:spPr>
      </p:sp>
      <p:sp>
        <p:nvSpPr>
          <p:cNvPr id="28" name="Ticket circle"/>
          <p:cNvSpPr/>
          <p:nvPr/>
        </p:nvSpPr>
        <p:spPr>
          <a:xfrm>
            <a:off x="2487168" y="2194560"/>
            <a:ext cx="512064" cy="512064"/>
          </a:xfrm>
          <a:prstGeom prst="ellipse">
            <a:avLst/>
          </a:prstGeom>
          <a:solidFill>
            <a:srgbClr val="2A9D8F"/>
          </a:solidFill>
          <a:ln/>
        </p:spPr>
      </p:sp>
      <p:pic>
        <p:nvPicPr>
          <p:cNvPr id="29" name="Ticket icon" descr="Ticket">    </p:cNvPr>
          <p:cNvPicPr>
            <a:picLocks noChangeAspect="1"/>
          </p:cNvPicPr>
          <p:nvPr/>
        </p:nvPicPr>
        <p:blipFill>
          <a:blip r:embed="rId3"/>
          <a:stretch>
            <a:fillRect/>
          </a:stretch>
        </p:blipFill>
        <p:spPr>
          <a:xfrm>
            <a:off x="2610063" y="2317455"/>
            <a:ext cx="266273" cy="266273"/>
          </a:xfrm>
          <a:prstGeom prst="rect">
            <a:avLst/>
          </a:prstGeom>
        </p:spPr>
      </p:pic>
      <p:sp>
        <p:nvSpPr>
          <p:cNvPr id="30" name="Text 25"/>
          <p:cNvSpPr txBox="1"/>
          <p:nvPr/>
        </p:nvSpPr>
        <p:spPr>
          <a:xfrm>
            <a:off x="23042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Ticket</a:t>
            </a:r>
            <a:endParaRPr lang="en-US" sz="1000" dirty="0"/>
          </a:p>
        </p:txBody>
      </p:sp>
      <p:sp>
        <p:nvSpPr>
          <p:cNvPr id="31" name="after arrow"/>
          <p:cNvSpPr/>
          <p:nvPr/>
        </p:nvSpPr>
        <p:spPr>
          <a:xfrm>
            <a:off x="3044952" y="2450592"/>
            <a:ext cx="310896" cy="0"/>
          </a:xfrm>
          <a:prstGeom prst="line">
            <a:avLst/>
          </a:prstGeom>
          <a:noFill/>
          <a:ln w="19050">
            <a:solidFill>
              <a:srgbClr val="6B7B80"/>
            </a:solidFill>
            <a:prstDash val="solid"/>
            <a:tailEnd type="triangle"/>
          </a:ln>
        </p:spPr>
      </p:sp>
      <p:sp>
        <p:nvSpPr>
          <p:cNvPr id="32" name="Clasificación circle"/>
          <p:cNvSpPr/>
          <p:nvPr/>
        </p:nvSpPr>
        <p:spPr>
          <a:xfrm>
            <a:off x="3401568" y="2194560"/>
            <a:ext cx="512064" cy="512064"/>
          </a:xfrm>
          <a:prstGeom prst="ellipse">
            <a:avLst/>
          </a:prstGeom>
          <a:solidFill>
            <a:srgbClr val="2A9D8F"/>
          </a:solidFill>
          <a:ln/>
        </p:spPr>
      </p:sp>
      <p:pic>
        <p:nvPicPr>
          <p:cNvPr id="33" name="Clasificación icon" descr="Clasificación">    </p:cNvPr>
          <p:cNvPicPr>
            <a:picLocks noChangeAspect="1"/>
          </p:cNvPicPr>
          <p:nvPr/>
        </p:nvPicPr>
        <p:blipFill>
          <a:blip r:embed="rId4"/>
          <a:stretch>
            <a:fillRect/>
          </a:stretch>
        </p:blipFill>
        <p:spPr>
          <a:xfrm>
            <a:off x="3524463" y="2317455"/>
            <a:ext cx="266273" cy="266273"/>
          </a:xfrm>
          <a:prstGeom prst="rect">
            <a:avLst/>
          </a:prstGeom>
        </p:spPr>
      </p:pic>
      <p:sp>
        <p:nvSpPr>
          <p:cNvPr id="34" name="Text 28"/>
          <p:cNvSpPr txBox="1"/>
          <p:nvPr/>
        </p:nvSpPr>
        <p:spPr>
          <a:xfrm>
            <a:off x="32186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Clasificación</a:t>
            </a:r>
            <a:endParaRPr lang="en-US" sz="1000" dirty="0"/>
          </a:p>
        </p:txBody>
      </p:sp>
      <p:sp>
        <p:nvSpPr>
          <p:cNvPr id="35" name="after arrow"/>
          <p:cNvSpPr/>
          <p:nvPr/>
        </p:nvSpPr>
        <p:spPr>
          <a:xfrm>
            <a:off x="3959352" y="2450592"/>
            <a:ext cx="310896" cy="0"/>
          </a:xfrm>
          <a:prstGeom prst="line">
            <a:avLst/>
          </a:prstGeom>
          <a:noFill/>
          <a:ln w="19050">
            <a:solidFill>
              <a:srgbClr val="6B7B80"/>
            </a:solidFill>
            <a:prstDash val="solid"/>
            <a:tailEnd type="triangle"/>
          </a:ln>
        </p:spPr>
      </p:sp>
      <p:sp>
        <p:nvSpPr>
          <p:cNvPr id="36" name="Asignación circle"/>
          <p:cNvSpPr/>
          <p:nvPr/>
        </p:nvSpPr>
        <p:spPr>
          <a:xfrm>
            <a:off x="4315968" y="2194560"/>
            <a:ext cx="512064" cy="512064"/>
          </a:xfrm>
          <a:prstGeom prst="ellipse">
            <a:avLst/>
          </a:prstGeom>
          <a:solidFill>
            <a:srgbClr val="2A9D8F"/>
          </a:solidFill>
          <a:ln/>
        </p:spPr>
      </p:sp>
      <p:pic>
        <p:nvPicPr>
          <p:cNvPr id="37" name="Asignación icon" descr="Asignación">    </p:cNvPr>
          <p:cNvPicPr>
            <a:picLocks noChangeAspect="1"/>
          </p:cNvPicPr>
          <p:nvPr/>
        </p:nvPicPr>
        <p:blipFill>
          <a:blip r:embed="rId5"/>
          <a:stretch>
            <a:fillRect/>
          </a:stretch>
        </p:blipFill>
        <p:spPr>
          <a:xfrm>
            <a:off x="4438863" y="2317455"/>
            <a:ext cx="266273" cy="266273"/>
          </a:xfrm>
          <a:prstGeom prst="rect">
            <a:avLst/>
          </a:prstGeom>
        </p:spPr>
      </p:pic>
      <p:sp>
        <p:nvSpPr>
          <p:cNvPr id="38" name="Text 31"/>
          <p:cNvSpPr txBox="1"/>
          <p:nvPr/>
        </p:nvSpPr>
        <p:spPr>
          <a:xfrm>
            <a:off x="41330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Asignación</a:t>
            </a:r>
            <a:endParaRPr lang="en-US" sz="1000" dirty="0"/>
          </a:p>
        </p:txBody>
      </p:sp>
      <p:sp>
        <p:nvSpPr>
          <p:cNvPr id="39" name="after arrow"/>
          <p:cNvSpPr/>
          <p:nvPr/>
        </p:nvSpPr>
        <p:spPr>
          <a:xfrm>
            <a:off x="4873752" y="2450592"/>
            <a:ext cx="310896" cy="0"/>
          </a:xfrm>
          <a:prstGeom prst="line">
            <a:avLst/>
          </a:prstGeom>
          <a:noFill/>
          <a:ln w="19050">
            <a:solidFill>
              <a:srgbClr val="6B7B80"/>
            </a:solidFill>
            <a:prstDash val="solid"/>
            <a:tailEnd type="triangle"/>
          </a:ln>
        </p:spPr>
      </p:sp>
      <p:sp>
        <p:nvSpPr>
          <p:cNvPr id="40" name="Resolución circle"/>
          <p:cNvSpPr/>
          <p:nvPr/>
        </p:nvSpPr>
        <p:spPr>
          <a:xfrm>
            <a:off x="5230368" y="2194560"/>
            <a:ext cx="512064" cy="512064"/>
          </a:xfrm>
          <a:prstGeom prst="ellipse">
            <a:avLst/>
          </a:prstGeom>
          <a:solidFill>
            <a:srgbClr val="2A9D8F"/>
          </a:solidFill>
          <a:ln/>
        </p:spPr>
      </p:sp>
      <p:pic>
        <p:nvPicPr>
          <p:cNvPr id="41" name="Resolución icon" descr="Resolución">    </p:cNvPr>
          <p:cNvPicPr>
            <a:picLocks noChangeAspect="1"/>
          </p:cNvPicPr>
          <p:nvPr/>
        </p:nvPicPr>
        <p:blipFill>
          <a:blip r:embed="rId6"/>
          <a:stretch>
            <a:fillRect/>
          </a:stretch>
        </p:blipFill>
        <p:spPr>
          <a:xfrm>
            <a:off x="5353263" y="2317455"/>
            <a:ext cx="266273" cy="266273"/>
          </a:xfrm>
          <a:prstGeom prst="rect">
            <a:avLst/>
          </a:prstGeom>
        </p:spPr>
      </p:pic>
      <p:sp>
        <p:nvSpPr>
          <p:cNvPr id="42" name="Text 34"/>
          <p:cNvSpPr txBox="1"/>
          <p:nvPr/>
        </p:nvSpPr>
        <p:spPr>
          <a:xfrm>
            <a:off x="50474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Resolución</a:t>
            </a:r>
            <a:endParaRPr lang="en-US" sz="1000" dirty="0"/>
          </a:p>
        </p:txBody>
      </p:sp>
      <p:sp>
        <p:nvSpPr>
          <p:cNvPr id="43" name="after arrow"/>
          <p:cNvSpPr/>
          <p:nvPr/>
        </p:nvSpPr>
        <p:spPr>
          <a:xfrm>
            <a:off x="5788152" y="2450592"/>
            <a:ext cx="310896" cy="0"/>
          </a:xfrm>
          <a:prstGeom prst="line">
            <a:avLst/>
          </a:prstGeom>
          <a:noFill/>
          <a:ln w="19050">
            <a:solidFill>
              <a:srgbClr val="6B7B80"/>
            </a:solidFill>
            <a:prstDash val="solid"/>
            <a:tailEnd type="triangle"/>
          </a:ln>
        </p:spPr>
      </p:sp>
      <p:sp>
        <p:nvSpPr>
          <p:cNvPr id="44" name="Notificación circle"/>
          <p:cNvSpPr/>
          <p:nvPr/>
        </p:nvSpPr>
        <p:spPr>
          <a:xfrm>
            <a:off x="6144768" y="2194560"/>
            <a:ext cx="512064" cy="512064"/>
          </a:xfrm>
          <a:prstGeom prst="ellipse">
            <a:avLst/>
          </a:prstGeom>
          <a:solidFill>
            <a:srgbClr val="2A9D8F"/>
          </a:solidFill>
          <a:ln/>
        </p:spPr>
      </p:sp>
      <p:pic>
        <p:nvPicPr>
          <p:cNvPr id="45" name="Notificación icon" descr="Notificación">    </p:cNvPr>
          <p:cNvPicPr>
            <a:picLocks noChangeAspect="1"/>
          </p:cNvPicPr>
          <p:nvPr/>
        </p:nvPicPr>
        <p:blipFill>
          <a:blip r:embed="rId7"/>
          <a:stretch>
            <a:fillRect/>
          </a:stretch>
        </p:blipFill>
        <p:spPr>
          <a:xfrm>
            <a:off x="6267663" y="2317455"/>
            <a:ext cx="266273" cy="266273"/>
          </a:xfrm>
          <a:prstGeom prst="rect">
            <a:avLst/>
          </a:prstGeom>
        </p:spPr>
      </p:pic>
      <p:sp>
        <p:nvSpPr>
          <p:cNvPr id="46" name="Text 37"/>
          <p:cNvSpPr txBox="1"/>
          <p:nvPr/>
        </p:nvSpPr>
        <p:spPr>
          <a:xfrm>
            <a:off x="59618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Notificación</a:t>
            </a:r>
            <a:endParaRPr lang="en-US" sz="1000" dirty="0"/>
          </a:p>
        </p:txBody>
      </p:sp>
      <p:sp>
        <p:nvSpPr>
          <p:cNvPr id="47" name="after arrow"/>
          <p:cNvSpPr/>
          <p:nvPr/>
        </p:nvSpPr>
        <p:spPr>
          <a:xfrm>
            <a:off x="6702552" y="2450592"/>
            <a:ext cx="310896" cy="0"/>
          </a:xfrm>
          <a:prstGeom prst="line">
            <a:avLst/>
          </a:prstGeom>
          <a:noFill/>
          <a:ln w="19050">
            <a:solidFill>
              <a:srgbClr val="6B7B80"/>
            </a:solidFill>
            <a:prstDash val="solid"/>
            <a:tailEnd type="triangle"/>
          </a:ln>
        </p:spPr>
      </p:sp>
      <p:sp>
        <p:nvSpPr>
          <p:cNvPr id="48" name="Cierre circle"/>
          <p:cNvSpPr/>
          <p:nvPr/>
        </p:nvSpPr>
        <p:spPr>
          <a:xfrm>
            <a:off x="7059168" y="2194560"/>
            <a:ext cx="512064" cy="512064"/>
          </a:xfrm>
          <a:prstGeom prst="ellipse">
            <a:avLst/>
          </a:prstGeom>
          <a:solidFill>
            <a:srgbClr val="2A9D8F"/>
          </a:solidFill>
          <a:ln/>
        </p:spPr>
      </p:sp>
      <p:pic>
        <p:nvPicPr>
          <p:cNvPr id="49" name="Cierre icon" descr="Cierre">    </p:cNvPr>
          <p:cNvPicPr>
            <a:picLocks noChangeAspect="1"/>
          </p:cNvPicPr>
          <p:nvPr/>
        </p:nvPicPr>
        <p:blipFill>
          <a:blip r:embed="rId8"/>
          <a:stretch>
            <a:fillRect/>
          </a:stretch>
        </p:blipFill>
        <p:spPr>
          <a:xfrm>
            <a:off x="7182063" y="2317455"/>
            <a:ext cx="266273" cy="266273"/>
          </a:xfrm>
          <a:prstGeom prst="rect">
            <a:avLst/>
          </a:prstGeom>
        </p:spPr>
      </p:pic>
      <p:sp>
        <p:nvSpPr>
          <p:cNvPr id="50" name="Text 40"/>
          <p:cNvSpPr txBox="1"/>
          <p:nvPr/>
        </p:nvSpPr>
        <p:spPr>
          <a:xfrm>
            <a:off x="68762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Cierre</a:t>
            </a:r>
            <a:endParaRPr lang="en-US" sz="1000" dirty="0"/>
          </a:p>
        </p:txBody>
      </p:sp>
      <p:sp>
        <p:nvSpPr>
          <p:cNvPr id="51" name="after arrow"/>
          <p:cNvSpPr/>
          <p:nvPr/>
        </p:nvSpPr>
        <p:spPr>
          <a:xfrm>
            <a:off x="7616952" y="2450592"/>
            <a:ext cx="310896" cy="0"/>
          </a:xfrm>
          <a:prstGeom prst="line">
            <a:avLst/>
          </a:prstGeom>
          <a:noFill/>
          <a:ln w="19050">
            <a:solidFill>
              <a:srgbClr val="6B7B80"/>
            </a:solidFill>
            <a:prstDash val="solid"/>
            <a:tailEnd type="triangle"/>
          </a:ln>
        </p:spPr>
      </p:sp>
      <p:sp>
        <p:nvSpPr>
          <p:cNvPr id="52" name="Encuesta de satisfacción circle"/>
          <p:cNvSpPr/>
          <p:nvPr/>
        </p:nvSpPr>
        <p:spPr>
          <a:xfrm>
            <a:off x="7973568" y="2194560"/>
            <a:ext cx="512064" cy="512064"/>
          </a:xfrm>
          <a:prstGeom prst="ellipse">
            <a:avLst/>
          </a:prstGeom>
          <a:solidFill>
            <a:srgbClr val="2A9D8F"/>
          </a:solidFill>
          <a:ln/>
        </p:spPr>
      </p:sp>
      <p:pic>
        <p:nvPicPr>
          <p:cNvPr id="53" name="Encuesta de satisfacción icon" descr="Encuesta de satisfacción">    </p:cNvPr>
          <p:cNvPicPr>
            <a:picLocks noChangeAspect="1"/>
          </p:cNvPicPr>
          <p:nvPr/>
        </p:nvPicPr>
        <p:blipFill>
          <a:blip r:embed="rId9"/>
          <a:stretch>
            <a:fillRect/>
          </a:stretch>
        </p:blipFill>
        <p:spPr>
          <a:xfrm>
            <a:off x="8096463" y="2317455"/>
            <a:ext cx="266273" cy="266273"/>
          </a:xfrm>
          <a:prstGeom prst="rect">
            <a:avLst/>
          </a:prstGeom>
        </p:spPr>
      </p:pic>
      <p:sp>
        <p:nvSpPr>
          <p:cNvPr id="54" name="Text 43"/>
          <p:cNvSpPr txBox="1"/>
          <p:nvPr/>
        </p:nvSpPr>
        <p:spPr>
          <a:xfrm>
            <a:off x="7790688" y="2761488"/>
            <a:ext cx="877824" cy="411480"/>
          </a:xfrm>
          <a:prstGeom prst="rect">
            <a:avLst/>
          </a:prstGeom>
          <a:noFill/>
          <a:ln/>
        </p:spPr>
        <p:txBody>
          <a:bodyPr wrap="square" lIns="0" tIns="0" rIns="0" bIns="0" rtlCol="0" anchor="t"/>
          <a:lstStyle/>
          <a:p>
            <a:pPr algn="ctr" indent="0" marL="0">
              <a:buNone/>
            </a:pPr>
            <a:r>
              <a:rPr lang="en-US" sz="1000" b="1" dirty="0">
                <a:solidFill>
                  <a:schemeClr val="tx2"/>
                </a:solidFill>
              </a:rPr>
              <a:t>Encuesta de satisfacción</a:t>
            </a:r>
            <a:endParaRPr lang="en-US" sz="1000" dirty="0"/>
          </a:p>
        </p:txBody>
      </p:sp>
      <p:sp>
        <p:nvSpPr>
          <p:cNvPr id="55" name="group 0"/>
          <p:cNvSpPr/>
          <p:nvPr/>
        </p:nvSpPr>
        <p:spPr>
          <a:xfrm>
            <a:off x="502920" y="3337560"/>
            <a:ext cx="2651760" cy="594360"/>
          </a:xfrm>
          <a:prstGeom prst="roundRect">
            <a:avLst>
              <a:gd name="adj" fmla="val 9231"/>
            </a:avLst>
          </a:prstGeom>
          <a:solidFill>
            <a:schemeClr val="accent1">
              <a:alpha val="12000"/>
            </a:schemeClr>
          </a:solidFill>
          <a:ln/>
        </p:spPr>
      </p:sp>
      <p:sp>
        <p:nvSpPr>
          <p:cNvPr id="56" name="Text 45"/>
          <p:cNvSpPr txBox="1"/>
          <p:nvPr/>
        </p:nvSpPr>
        <p:spPr>
          <a:xfrm>
            <a:off x="640080" y="3355848"/>
            <a:ext cx="2377440" cy="548640"/>
          </a:xfrm>
          <a:prstGeom prst="rect">
            <a:avLst/>
          </a:prstGeom>
          <a:noFill/>
          <a:ln/>
        </p:spPr>
        <p:txBody>
          <a:bodyPr wrap="square" lIns="0" tIns="0" rIns="0" bIns="0" rtlCol="0" anchor="ctr"/>
          <a:lstStyle/>
          <a:p>
            <a:pPr algn="ctr" indent="0" marL="0">
              <a:buNone/>
            </a:pPr>
            <a:r>
              <a:rPr lang="en-US" sz="1100" b="1" dirty="0">
                <a:solidFill>
                  <a:schemeClr val="tx2"/>
                </a:solidFill>
              </a:rPr>
              <a:t>Entrada única</a:t>
            </a:r>
            <a:endParaRPr lang="en-US" sz="1100" dirty="0"/>
          </a:p>
          <a:p>
            <a:pPr algn="ctr" indent="0" marL="0">
              <a:buNone/>
            </a:pPr>
            <a:r>
              <a:rPr lang="en-US" sz="1100" dirty="0">
                <a:solidFill>
                  <a:schemeClr val="tx1"/>
                </a:solidFill>
              </a:rPr>
              <a:t>Todo queda registrado</a:t>
            </a:r>
            <a:endParaRPr lang="en-US" sz="1100" dirty="0"/>
          </a:p>
        </p:txBody>
      </p:sp>
      <p:sp>
        <p:nvSpPr>
          <p:cNvPr id="57" name="group 1"/>
          <p:cNvSpPr/>
          <p:nvPr/>
        </p:nvSpPr>
        <p:spPr>
          <a:xfrm>
            <a:off x="3246120" y="3337560"/>
            <a:ext cx="2651760" cy="594360"/>
          </a:xfrm>
          <a:prstGeom prst="roundRect">
            <a:avLst>
              <a:gd name="adj" fmla="val 9231"/>
            </a:avLst>
          </a:prstGeom>
          <a:solidFill>
            <a:schemeClr val="accent1">
              <a:alpha val="12000"/>
            </a:schemeClr>
          </a:solidFill>
          <a:ln/>
        </p:spPr>
      </p:sp>
      <p:sp>
        <p:nvSpPr>
          <p:cNvPr id="58" name="Text 47"/>
          <p:cNvSpPr txBox="1"/>
          <p:nvPr/>
        </p:nvSpPr>
        <p:spPr>
          <a:xfrm>
            <a:off x="3383280" y="3355848"/>
            <a:ext cx="2377440" cy="548640"/>
          </a:xfrm>
          <a:prstGeom prst="rect">
            <a:avLst/>
          </a:prstGeom>
          <a:noFill/>
          <a:ln/>
        </p:spPr>
        <p:txBody>
          <a:bodyPr wrap="square" lIns="0" tIns="0" rIns="0" bIns="0" rtlCol="0" anchor="ctr"/>
          <a:lstStyle/>
          <a:p>
            <a:pPr algn="ctr" indent="0" marL="0">
              <a:buNone/>
            </a:pPr>
            <a:r>
              <a:rPr lang="en-US" sz="1100" b="1" dirty="0">
                <a:solidFill>
                  <a:schemeClr val="tx2"/>
                </a:solidFill>
              </a:rPr>
              <a:t>Gestión ordenada</a:t>
            </a:r>
            <a:endParaRPr lang="en-US" sz="1100" dirty="0"/>
          </a:p>
          <a:p>
            <a:pPr algn="ctr" indent="0" marL="0">
              <a:buNone/>
            </a:pPr>
            <a:r>
              <a:rPr lang="en-US" sz="1100" dirty="0">
                <a:solidFill>
                  <a:schemeClr val="tx1"/>
                </a:solidFill>
              </a:rPr>
              <a:t>Cada caso tiene responsable</a:t>
            </a:r>
            <a:endParaRPr lang="en-US" sz="1100" dirty="0"/>
          </a:p>
        </p:txBody>
      </p:sp>
      <p:sp>
        <p:nvSpPr>
          <p:cNvPr id="59" name="group 2"/>
          <p:cNvSpPr/>
          <p:nvPr/>
        </p:nvSpPr>
        <p:spPr>
          <a:xfrm>
            <a:off x="5989320" y="3337560"/>
            <a:ext cx="2651760" cy="594360"/>
          </a:xfrm>
          <a:prstGeom prst="roundRect">
            <a:avLst>
              <a:gd name="adj" fmla="val 9231"/>
            </a:avLst>
          </a:prstGeom>
          <a:solidFill>
            <a:schemeClr val="accent1">
              <a:alpha val="12000"/>
            </a:schemeClr>
          </a:solidFill>
          <a:ln/>
        </p:spPr>
      </p:sp>
      <p:sp>
        <p:nvSpPr>
          <p:cNvPr id="60" name="Text 49"/>
          <p:cNvSpPr txBox="1"/>
          <p:nvPr/>
        </p:nvSpPr>
        <p:spPr>
          <a:xfrm>
            <a:off x="6126480" y="3355848"/>
            <a:ext cx="2377440" cy="548640"/>
          </a:xfrm>
          <a:prstGeom prst="rect">
            <a:avLst/>
          </a:prstGeom>
          <a:noFill/>
          <a:ln/>
        </p:spPr>
        <p:txBody>
          <a:bodyPr wrap="square" lIns="0" tIns="0" rIns="0" bIns="0" rtlCol="0" anchor="ctr"/>
          <a:lstStyle/>
          <a:p>
            <a:pPr algn="ctr" indent="0" marL="0">
              <a:buNone/>
            </a:pPr>
            <a:r>
              <a:rPr lang="en-US" sz="1100" b="1" dirty="0">
                <a:solidFill>
                  <a:schemeClr val="tx2"/>
                </a:solidFill>
              </a:rPr>
              <a:t>Ciclo cerrado</a:t>
            </a:r>
            <a:endParaRPr lang="en-US" sz="1100" dirty="0"/>
          </a:p>
          <a:p>
            <a:pPr algn="ctr" indent="0" marL="0">
              <a:buNone/>
            </a:pPr>
            <a:r>
              <a:rPr lang="en-US" sz="1100" dirty="0">
                <a:solidFill>
                  <a:schemeClr val="tx1"/>
                </a:solidFill>
              </a:rPr>
              <a:t>El usuario sabe y opina</a:t>
            </a:r>
            <a:endParaRPr lang="en-US" sz="1100" dirty="0"/>
          </a:p>
        </p:txBody>
      </p:sp>
      <p:sp>
        <p:nvSpPr>
          <p:cNvPr id="61" name="transition box"/>
          <p:cNvSpPr/>
          <p:nvPr/>
        </p:nvSpPr>
        <p:spPr>
          <a:xfrm>
            <a:off x="457200" y="4096512"/>
            <a:ext cx="8229600" cy="502920"/>
          </a:xfrm>
          <a:prstGeom prst="roundRect">
            <a:avLst>
              <a:gd name="adj" fmla="val 14545"/>
            </a:avLst>
          </a:prstGeom>
          <a:solidFill>
            <a:schemeClr val="bg2"/>
          </a:solidFill>
          <a:ln/>
        </p:spPr>
      </p:sp>
      <p:sp>
        <p:nvSpPr>
          <p:cNvPr id="62" name="Text 51"/>
          <p:cNvSpPr txBox="1"/>
          <p:nvPr/>
        </p:nvSpPr>
        <p:spPr>
          <a:xfrm>
            <a:off x="685800" y="4096512"/>
            <a:ext cx="7772400" cy="502920"/>
          </a:xfrm>
          <a:prstGeom prst="rect">
            <a:avLst/>
          </a:prstGeom>
          <a:noFill/>
          <a:ln/>
        </p:spPr>
        <p:txBody>
          <a:bodyPr wrap="square" lIns="0" tIns="0" rIns="0" bIns="0" rtlCol="0" anchor="ctr"/>
          <a:lstStyle/>
          <a:p>
            <a:pPr indent="0" marL="0">
              <a:buNone/>
            </a:pPr>
            <a:r>
              <a:rPr lang="en-US" sz="1200" b="1" dirty="0">
                <a:solidFill>
                  <a:schemeClr val="tx2"/>
                </a:solidFill>
              </a:rPr>
              <a:t>Transición sin choque: </a:t>
            </a:r>
            <a:pPr indent="0" marL="0">
              <a:buNone/>
            </a:pPr>
            <a:r>
              <a:rPr lang="en-US" sz="1200" dirty="0">
                <a:solidFill>
                  <a:schemeClr val="tx1"/>
                </a:solidFill>
              </a:rPr>
              <a:t>WhatsApp y correo no se cierran de golpe; responden con el enlace al portal hasta que el hábito cambie.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JUSTIFICACIÓN</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2800" b="1" dirty="0">
                <a:solidFill>
                  <a:schemeClr val="tx2"/>
                </a:solidFill>
              </a:rPr>
              <a:t>Por qué la propuesta genera valor</a:t>
            </a:r>
            <a:endParaRPr lang="en-US" sz="2800" dirty="0"/>
          </a:p>
        </p:txBody>
      </p:sp>
      <p:graphicFrame>
        <p:nvGraphicFramePr>
          <p:cNvPr id="11" name="before after table"/>
          <p:cNvGraphicFramePr>
            <a:graphicFrameLocks noGrp="1"/>
          </p:cNvGraphicFramePr>
          <p:nvPr>
            <p:extLst>
              <p:ext uri="{D42A27DB-BD31-4B8C-83A1-F6EECF244321}">
                <p14:modId xmlns:p14="http://schemas.microsoft.com/office/powerpoint/2010/main" val="1579011935"/>
              </p:ext>
            </p:extLst>
          </p:nvPr>
        </p:nvGraphicFramePr>
        <p:xfrm>
          <a:off x="457200" y="1371600"/>
          <a:ext cx="4846320" cy="914400"/>
        </p:xfrm>
        <a:graphic>
          <a:graphicData uri="http://schemas.openxmlformats.org/drawingml/2006/table">
            <a:tbl>
              <a:tblPr/>
              <a:tblGrid>
                <a:gridCol w="1280160"/>
                <a:gridCol w="1737360"/>
                <a:gridCol w="1828800"/>
              </a:tblGrid>
              <a:tr h="438912">
                <a:tc>
                  <a:txBody>
                    <a:bodyPr/>
                    <a:lstStyle/>
                    <a:p>
                      <a:pPr indent="0" marL="0">
                        <a:buNone/>
                      </a:pPr>
                      <a:r>
                        <a:rPr lang="en-US" sz="1200" b="1" dirty="0">
                          <a:solidFill>
                            <a:schemeClr val="bg1"/>
                          </a:solidFill>
                        </a:rPr>
                        <a:t>Aspecto</a:t>
                      </a:r>
                      <a:endParaRPr lang="en-US" sz="12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Antes</a:t>
                      </a:r>
                      <a:endParaRPr lang="en-US" sz="12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Después</a:t>
                      </a:r>
                      <a:endParaRPr lang="en-US" sz="12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tx2"/>
                    </a:solidFill>
                  </a:tcPr>
                </a:tc>
              </a:tr>
              <a:tr h="438912">
                <a:tc>
                  <a:txBody>
                    <a:bodyPr/>
                    <a:lstStyle/>
                    <a:p>
                      <a:pPr indent="0" marL="0">
                        <a:buNone/>
                      </a:pPr>
                      <a:r>
                        <a:rPr lang="en-US" sz="1100" b="1" dirty="0">
                          <a:solidFill>
                            <a:schemeClr val="tx2"/>
                          </a:solidFill>
                        </a:rPr>
                        <a:t>Canal de entrada</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WhatsApp, correo y Excel</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Un portal único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r>
              <a:tr h="438912">
                <a:tc>
                  <a:txBody>
                    <a:bodyPr/>
                    <a:lstStyle/>
                    <a:p>
                      <a:pPr indent="0" marL="0">
                        <a:buNone/>
                      </a:pPr>
                      <a:r>
                        <a:rPr lang="en-US" sz="1100" b="1" dirty="0">
                          <a:solidFill>
                            <a:schemeClr val="tx2"/>
                          </a:solidFill>
                        </a:rPr>
                        <a:t>Seguimiento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El usuario no sabe el estado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Aviso en cada cambio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2"/>
                          </a:solidFill>
                        </a:rPr>
                        <a:t>Registro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Disperso y duplicado</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Un ticket por solicitud</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r>
              <a:tr h="438912">
                <a:tc>
                  <a:txBody>
                    <a:bodyPr/>
                    <a:lstStyle/>
                    <a:p>
                      <a:pPr indent="0" marL="0">
                        <a:buNone/>
                      </a:pPr>
                      <a:r>
                        <a:rPr lang="en-US" sz="1100" b="1" dirty="0">
                          <a:solidFill>
                            <a:schemeClr val="tx2"/>
                          </a:solidFill>
                        </a:rPr>
                        <a:t>Información</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Sin estadísticas</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Reportes por categoría y tiempos</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2"/>
                          </a:solidFill>
                        </a:rPr>
                        <a:t>Inversión</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Compra de una plataforma</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Herramienta que TI ya conoce</a:t>
                      </a:r>
                      <a:endParaRPr lang="en-US" sz="1100" dirty="0"/>
                    </a:p>
                  </a:txBody>
                  <a:tcPr marL="73152" marR="73152" marT="36576" marB="36576" anchor="ctr">
                    <a:lnL w="6350" cap="flat" cmpd="sng" algn="ctr">
                      <a:solidFill>
                        <a:srgbClr val="E8F3F1"/>
                      </a:solidFill>
                      <a:prstDash val="solid"/>
                      <a:round/>
                      <a:headEnd type="none" w="med" len="med"/>
                      <a:tailEnd type="none" w="med" len="med"/>
                    </a:lnL>
                    <a:lnR w="6350" cap="flat" cmpd="sng" algn="ctr">
                      <a:solidFill>
                        <a:srgbClr val="E8F3F1"/>
                      </a:solidFill>
                      <a:prstDash val="solid"/>
                      <a:round/>
                      <a:headEnd type="none" w="med" len="med"/>
                      <a:tailEnd type="none" w="med" len="med"/>
                    </a:lnR>
                    <a:lnT w="6350" cap="flat" cmpd="sng" algn="ctr">
                      <a:solidFill>
                        <a:srgbClr val="E8F3F1"/>
                      </a:solidFill>
                      <a:prstDash val="solid"/>
                      <a:round/>
                      <a:headEnd type="none" w="med" len="med"/>
                      <a:tailEnd type="none" w="med" len="med"/>
                    </a:lnT>
                    <a:lnB w="6350" cap="flat" cmpd="sng" algn="ctr">
                      <a:solidFill>
                        <a:srgbClr val="E8F3F1"/>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669280" y="1371600"/>
            <a:ext cx="3017520" cy="320040"/>
          </a:xfrm>
          <a:prstGeom prst="rect">
            <a:avLst/>
          </a:prstGeom>
          <a:noFill/>
          <a:ln/>
        </p:spPr>
        <p:txBody>
          <a:bodyPr wrap="square" lIns="0" tIns="0" rIns="0" bIns="0" rtlCol="0" anchor="t"/>
          <a:lstStyle/>
          <a:p>
            <a:pPr indent="0" marL="0">
              <a:buNone/>
            </a:pPr>
            <a:r>
              <a:rPr lang="en-US" sz="1500" b="1" dirty="0">
                <a:solidFill>
                  <a:schemeClr val="tx2"/>
                </a:solidFill>
              </a:rPr>
              <a:t>Cómo lo mediremos</a:t>
            </a:r>
            <a:endParaRPr lang="en-US" sz="1500" dirty="0"/>
          </a:p>
        </p:txBody>
      </p:sp>
      <p:sp>
        <p:nvSpPr>
          <p:cNvPr id="6" name="Tiempo de primera respuesta circle"/>
          <p:cNvSpPr/>
          <p:nvPr/>
        </p:nvSpPr>
        <p:spPr>
          <a:xfrm>
            <a:off x="5669280" y="1783080"/>
            <a:ext cx="457200" cy="457200"/>
          </a:xfrm>
          <a:prstGeom prst="ellipse">
            <a:avLst/>
          </a:prstGeom>
          <a:solidFill>
            <a:srgbClr val="F4A261"/>
          </a:solidFill>
          <a:ln/>
        </p:spPr>
      </p:sp>
      <p:pic>
        <p:nvPicPr>
          <p:cNvPr id="7" name="Tiempo de primera respuesta icon" descr="Tiempo de primera respuesta">    </p:cNvPr>
          <p:cNvPicPr>
            <a:picLocks noChangeAspect="1"/>
          </p:cNvPicPr>
          <p:nvPr/>
        </p:nvPicPr>
        <p:blipFill>
          <a:blip r:embed="rId1"/>
          <a:stretch>
            <a:fillRect/>
          </a:stretch>
        </p:blipFill>
        <p:spPr>
          <a:xfrm>
            <a:off x="5779008" y="1892808"/>
            <a:ext cx="237744" cy="237744"/>
          </a:xfrm>
          <a:prstGeom prst="rect">
            <a:avLst/>
          </a:prstGeom>
        </p:spPr>
      </p:pic>
      <p:sp>
        <p:nvSpPr>
          <p:cNvPr id="8" name="Text 4"/>
          <p:cNvSpPr txBox="1"/>
          <p:nvPr/>
        </p:nvSpPr>
        <p:spPr>
          <a:xfrm>
            <a:off x="6263640" y="1783080"/>
            <a:ext cx="2423160" cy="457200"/>
          </a:xfrm>
          <a:prstGeom prst="rect">
            <a:avLst/>
          </a:prstGeom>
          <a:noFill/>
          <a:ln/>
        </p:spPr>
        <p:txBody>
          <a:bodyPr wrap="square" lIns="0" tIns="0" rIns="0" bIns="0" rtlCol="0" anchor="ctr"/>
          <a:lstStyle/>
          <a:p>
            <a:pPr indent="0" marL="0">
              <a:buNone/>
            </a:pPr>
            <a:r>
              <a:rPr lang="en-US" sz="1300" dirty="0">
                <a:solidFill>
                  <a:schemeClr val="tx1"/>
                </a:solidFill>
              </a:rPr>
              <a:t>Tiempo de primera respuesta</a:t>
            </a:r>
            <a:endParaRPr lang="en-US" sz="1300" dirty="0"/>
          </a:p>
        </p:txBody>
      </p:sp>
      <p:sp>
        <p:nvSpPr>
          <p:cNvPr id="9" name="Tiempo de resolución circle"/>
          <p:cNvSpPr/>
          <p:nvPr/>
        </p:nvSpPr>
        <p:spPr>
          <a:xfrm>
            <a:off x="5669280" y="2350008"/>
            <a:ext cx="457200" cy="457200"/>
          </a:xfrm>
          <a:prstGeom prst="ellipse">
            <a:avLst/>
          </a:prstGeom>
          <a:solidFill>
            <a:srgbClr val="F4A261"/>
          </a:solidFill>
          <a:ln/>
        </p:spPr>
      </p:sp>
      <p:pic>
        <p:nvPicPr>
          <p:cNvPr id="10" name="Tiempo de resolución icon" descr="Tiempo de resolución">    </p:cNvPr>
          <p:cNvPicPr>
            <a:picLocks noChangeAspect="1"/>
          </p:cNvPicPr>
          <p:nvPr/>
        </p:nvPicPr>
        <p:blipFill>
          <a:blip r:embed="rId2"/>
          <a:stretch>
            <a:fillRect/>
          </a:stretch>
        </p:blipFill>
        <p:spPr>
          <a:xfrm>
            <a:off x="5779008" y="2459736"/>
            <a:ext cx="237744" cy="237744"/>
          </a:xfrm>
          <a:prstGeom prst="rect">
            <a:avLst/>
          </a:prstGeom>
        </p:spPr>
      </p:pic>
      <p:sp>
        <p:nvSpPr>
          <p:cNvPr id="11" name="Text 6"/>
          <p:cNvSpPr txBox="1"/>
          <p:nvPr/>
        </p:nvSpPr>
        <p:spPr>
          <a:xfrm>
            <a:off x="6263640" y="2350008"/>
            <a:ext cx="2423160" cy="457200"/>
          </a:xfrm>
          <a:prstGeom prst="rect">
            <a:avLst/>
          </a:prstGeom>
          <a:noFill/>
          <a:ln/>
        </p:spPr>
        <p:txBody>
          <a:bodyPr wrap="square" lIns="0" tIns="0" rIns="0" bIns="0" rtlCol="0" anchor="ctr"/>
          <a:lstStyle/>
          <a:p>
            <a:pPr indent="0" marL="0">
              <a:buNone/>
            </a:pPr>
            <a:r>
              <a:rPr lang="en-US" sz="1300" dirty="0">
                <a:solidFill>
                  <a:schemeClr val="tx1"/>
                </a:solidFill>
              </a:rPr>
              <a:t>Tiempo de resolución</a:t>
            </a:r>
            <a:endParaRPr lang="en-US" sz="1300" dirty="0"/>
          </a:p>
        </p:txBody>
      </p:sp>
      <p:sp>
        <p:nvSpPr>
          <p:cNvPr id="12" name="% de solicitudes vía portal circle"/>
          <p:cNvSpPr/>
          <p:nvPr/>
        </p:nvSpPr>
        <p:spPr>
          <a:xfrm>
            <a:off x="5669280" y="2916936"/>
            <a:ext cx="457200" cy="457200"/>
          </a:xfrm>
          <a:prstGeom prst="ellipse">
            <a:avLst/>
          </a:prstGeom>
          <a:solidFill>
            <a:srgbClr val="F4A261"/>
          </a:solidFill>
          <a:ln/>
        </p:spPr>
      </p:sp>
      <p:pic>
        <p:nvPicPr>
          <p:cNvPr id="13" name="% de solicitudes vía portal icon" descr="% de solicitudes vía portal">    </p:cNvPr>
          <p:cNvPicPr>
            <a:picLocks noChangeAspect="1"/>
          </p:cNvPicPr>
          <p:nvPr/>
        </p:nvPicPr>
        <p:blipFill>
          <a:blip r:embed="rId3"/>
          <a:stretch>
            <a:fillRect/>
          </a:stretch>
        </p:blipFill>
        <p:spPr>
          <a:xfrm>
            <a:off x="5779008" y="3026664"/>
            <a:ext cx="237744" cy="237744"/>
          </a:xfrm>
          <a:prstGeom prst="rect">
            <a:avLst/>
          </a:prstGeom>
        </p:spPr>
      </p:pic>
      <p:sp>
        <p:nvSpPr>
          <p:cNvPr id="14" name="Text 8"/>
          <p:cNvSpPr txBox="1"/>
          <p:nvPr/>
        </p:nvSpPr>
        <p:spPr>
          <a:xfrm>
            <a:off x="6263640" y="2916936"/>
            <a:ext cx="2423160" cy="457200"/>
          </a:xfrm>
          <a:prstGeom prst="rect">
            <a:avLst/>
          </a:prstGeom>
          <a:noFill/>
          <a:ln/>
        </p:spPr>
        <p:txBody>
          <a:bodyPr wrap="square" lIns="0" tIns="0" rIns="0" bIns="0" rtlCol="0" anchor="ctr"/>
          <a:lstStyle/>
          <a:p>
            <a:pPr indent="0" marL="0">
              <a:buNone/>
            </a:pPr>
            <a:r>
              <a:rPr lang="en-US" sz="1300" dirty="0">
                <a:solidFill>
                  <a:schemeClr val="tx1"/>
                </a:solidFill>
              </a:rPr>
              <a:t>% de solicitudes vía portal</a:t>
            </a:r>
            <a:endParaRPr lang="en-US" sz="1300" dirty="0"/>
          </a:p>
        </p:txBody>
      </p:sp>
      <p:sp>
        <p:nvSpPr>
          <p:cNvPr id="15" name="Satisfacción del usuario circle"/>
          <p:cNvSpPr/>
          <p:nvPr/>
        </p:nvSpPr>
        <p:spPr>
          <a:xfrm>
            <a:off x="5669280" y="3483864"/>
            <a:ext cx="457200" cy="457200"/>
          </a:xfrm>
          <a:prstGeom prst="ellipse">
            <a:avLst/>
          </a:prstGeom>
          <a:solidFill>
            <a:srgbClr val="F4A261"/>
          </a:solidFill>
          <a:ln/>
        </p:spPr>
      </p:sp>
      <p:pic>
        <p:nvPicPr>
          <p:cNvPr id="16" name="Satisfacción del usuario icon" descr="Satisfacción del usuario">    </p:cNvPr>
          <p:cNvPicPr>
            <a:picLocks noChangeAspect="1"/>
          </p:cNvPicPr>
          <p:nvPr/>
        </p:nvPicPr>
        <p:blipFill>
          <a:blip r:embed="rId4"/>
          <a:stretch>
            <a:fillRect/>
          </a:stretch>
        </p:blipFill>
        <p:spPr>
          <a:xfrm>
            <a:off x="5779008" y="3593592"/>
            <a:ext cx="237744" cy="237744"/>
          </a:xfrm>
          <a:prstGeom prst="rect">
            <a:avLst/>
          </a:prstGeom>
        </p:spPr>
      </p:pic>
      <p:sp>
        <p:nvSpPr>
          <p:cNvPr id="17" name="Text 10"/>
          <p:cNvSpPr txBox="1"/>
          <p:nvPr/>
        </p:nvSpPr>
        <p:spPr>
          <a:xfrm>
            <a:off x="6263640" y="3483864"/>
            <a:ext cx="2423160" cy="457200"/>
          </a:xfrm>
          <a:prstGeom prst="rect">
            <a:avLst/>
          </a:prstGeom>
          <a:noFill/>
          <a:ln/>
        </p:spPr>
        <p:txBody>
          <a:bodyPr wrap="square" lIns="0" tIns="0" rIns="0" bIns="0" rtlCol="0" anchor="ctr"/>
          <a:lstStyle/>
          <a:p>
            <a:pPr indent="0" marL="0">
              <a:buNone/>
            </a:pPr>
            <a:r>
              <a:rPr lang="en-US" sz="1300" dirty="0">
                <a:solidFill>
                  <a:schemeClr val="tx1"/>
                </a:solidFill>
              </a:rPr>
              <a:t>Satisfacción del usuario</a:t>
            </a:r>
            <a:endParaRPr lang="en-US" sz="1300" dirty="0"/>
          </a:p>
        </p:txBody>
      </p:sp>
      <p:sp>
        <p:nvSpPr>
          <p:cNvPr id="18" name="Text 11"/>
          <p:cNvSpPr txBox="1"/>
          <p:nvPr/>
        </p:nvSpPr>
        <p:spPr>
          <a:xfrm>
            <a:off x="5669280" y="4069080"/>
            <a:ext cx="3017520" cy="502920"/>
          </a:xfrm>
          <a:prstGeom prst="rect">
            <a:avLst/>
          </a:prstGeom>
          <a:noFill/>
          <a:ln/>
        </p:spPr>
        <p:txBody>
          <a:bodyPr wrap="square" lIns="0" tIns="0" rIns="0" bIns="0" rtlCol="0" anchor="t"/>
          <a:lstStyle/>
          <a:p>
            <a:pPr indent="0" marL="0">
              <a:buNone/>
            </a:pPr>
            <a:r>
              <a:rPr lang="en-US" sz="1100" i="1" dirty="0">
                <a:solidFill>
                  <a:schemeClr val="accent4"/>
                </a:solidFill>
              </a:rPr>
              <a:t>La etapa 1 fija la línea base; cada etapa siguiente se compara contra ella.</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4937760" cy="320040"/>
          </a:xfrm>
          <a:prstGeom prst="rect">
            <a:avLst/>
          </a:prstGeom>
          <a:noFill/>
          <a:ln/>
        </p:spPr>
        <p:txBody>
          <a:bodyPr wrap="square" lIns="0" tIns="0" rIns="0" bIns="0" rtlCol="0"/>
          <a:lstStyle/>
          <a:p>
            <a:pPr indent="0" marL="0">
              <a:buNone/>
            </a:pPr>
            <a:r>
              <a:rPr lang="en-US" sz="1200" b="1" spc="200" kern="0" dirty="0">
                <a:solidFill>
                  <a:schemeClr val="accent2"/>
                </a:solidFill>
              </a:rPr>
              <a:t>CONCLUSIÓN</a:t>
            </a:r>
            <a:endParaRPr lang="en-US" sz="1200" dirty="0"/>
          </a:p>
        </p:txBody>
      </p:sp>
      <p:sp>
        <p:nvSpPr>
          <p:cNvPr id="3" name="Text 0"/>
          <p:cNvSpPr/>
          <p:nvPr>
            <p:ph idx="101" type="title" hasCustomPrompt="1"/>
          </p:nvPr>
        </p:nvSpPr>
        <p:spPr>
          <a:xfrm>
            <a:off x="548640" y="1508760"/>
            <a:ext cx="5120640" cy="1280160"/>
          </a:xfrm>
          <a:prstGeom prst="rect">
            <a:avLst/>
          </a:prstGeom>
          <a:noFill/>
          <a:ln/>
        </p:spPr>
        <p:txBody>
          <a:bodyPr wrap="square" lIns="0" tIns="0" rIns="0" bIns="0" rtlCol="0" anchor="t"/>
          <a:lstStyle/>
          <a:p>
            <a:pPr algn="l" indent="0" marL="0">
              <a:buNone/>
            </a:pPr>
            <a:r>
              <a:rPr lang="en-US" sz="4000" b="1" dirty="0">
                <a:solidFill>
                  <a:schemeClr val="bg1"/>
                </a:solidFill>
              </a:rPr>
              <a:t>Generar valor, no solo comprar tecnología</a:t>
            </a:r>
            <a:endParaRPr lang="en-US" sz="4000" dirty="0"/>
          </a:p>
        </p:txBody>
      </p:sp>
      <p:sp>
        <p:nvSpPr>
          <p:cNvPr id="4" name="Text 0"/>
          <p:cNvSpPr/>
          <p:nvPr>
            <p:ph idx="102" type="body" hasCustomPrompt="1"/>
          </p:nvPr>
        </p:nvSpPr>
        <p:spPr>
          <a:xfrm>
            <a:off x="548640" y="2834640"/>
            <a:ext cx="4754880" cy="914400"/>
          </a:xfrm>
          <a:prstGeom prst="rect">
            <a:avLst/>
          </a:prstGeom>
          <a:noFill/>
          <a:ln/>
        </p:spPr>
        <p:txBody>
          <a:bodyPr wrap="square" lIns="0" tIns="0" rIns="0" bIns="0" rtlCol="0" anchor="t"/>
          <a:lstStyle/>
          <a:p>
            <a:pPr indent="0" marL="0">
              <a:buNone/>
            </a:pPr>
            <a:r>
              <a:rPr lang="en-US" sz="1800" dirty="0">
                <a:solidFill>
                  <a:schemeClr val="bg2"/>
                </a:solidFill>
              </a:rPr>
              <a:t>ITIL nos ayuda a decidir mejor, no a sumar herramientas.</a:t>
            </a:r>
            <a:endParaRPr lang="en-US" sz="1800" dirty="0"/>
          </a:p>
        </p:txBody>
      </p:sp>
      <p:sp>
        <p:nvSpPr>
          <p:cNvPr id="5" name="Text 3"/>
          <p:cNvSpPr txBox="1"/>
          <p:nvPr/>
        </p:nvSpPr>
        <p:spPr>
          <a:xfrm>
            <a:off x="5943600" y="91440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Próximos pasos</a:t>
            </a:r>
            <a:endParaRPr lang="en-US" sz="1400" dirty="0"/>
          </a:p>
        </p:txBody>
      </p:sp>
      <p:sp>
        <p:nvSpPr>
          <p:cNvPr id="6" name="step 1"/>
          <p:cNvSpPr/>
          <p:nvPr/>
        </p:nvSpPr>
        <p:spPr>
          <a:xfrm>
            <a:off x="5943600" y="1371600"/>
            <a:ext cx="2743200" cy="868680"/>
          </a:xfrm>
          <a:prstGeom prst="roundRect">
            <a:avLst>
              <a:gd name="adj" fmla="val 8421"/>
            </a:avLst>
          </a:prstGeom>
          <a:solidFill>
            <a:schemeClr val="accent4"/>
          </a:solidFill>
          <a:ln/>
        </p:spPr>
      </p:sp>
      <p:sp>
        <p:nvSpPr>
          <p:cNvPr id="7" name="step num 1"/>
          <p:cNvSpPr/>
          <p:nvPr/>
        </p:nvSpPr>
        <p:spPr>
          <a:xfrm>
            <a:off x="6080760" y="1572768"/>
            <a:ext cx="457200" cy="457200"/>
          </a:xfrm>
          <a:prstGeom prst="ellipse">
            <a:avLst/>
          </a:prstGeom>
          <a:solidFill>
            <a:schemeClr val="accent2"/>
          </a:solidFill>
          <a:ln/>
        </p:spPr>
      </p:sp>
      <p:sp>
        <p:nvSpPr>
          <p:cNvPr id="8" name="Text 6"/>
          <p:cNvSpPr txBox="1"/>
          <p:nvPr/>
        </p:nvSpPr>
        <p:spPr>
          <a:xfrm>
            <a:off x="6080760" y="1572768"/>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Text 7"/>
          <p:cNvSpPr txBox="1"/>
          <p:nvPr/>
        </p:nvSpPr>
        <p:spPr>
          <a:xfrm>
            <a:off x="6675120" y="1463040"/>
            <a:ext cx="1920240" cy="274320"/>
          </a:xfrm>
          <a:prstGeom prst="rect">
            <a:avLst/>
          </a:prstGeom>
          <a:noFill/>
          <a:ln/>
        </p:spPr>
        <p:txBody>
          <a:bodyPr wrap="square" lIns="0" tIns="0" rIns="0" bIns="0" rtlCol="0" anchor="t"/>
          <a:lstStyle/>
          <a:p>
            <a:pPr indent="0" marL="0">
              <a:buNone/>
            </a:pPr>
            <a:r>
              <a:rPr lang="en-US" sz="1400" b="1" dirty="0">
                <a:solidFill>
                  <a:schemeClr val="bg1"/>
                </a:solidFill>
              </a:rPr>
              <a:t>Consultar</a:t>
            </a:r>
            <a:endParaRPr lang="en-US" sz="1400" dirty="0"/>
          </a:p>
        </p:txBody>
      </p:sp>
      <p:sp>
        <p:nvSpPr>
          <p:cNvPr id="10" name="Text 8"/>
          <p:cNvSpPr txBox="1"/>
          <p:nvPr/>
        </p:nvSpPr>
        <p:spPr>
          <a:xfrm>
            <a:off x="6675120" y="1737360"/>
            <a:ext cx="1920240" cy="457200"/>
          </a:xfrm>
          <a:prstGeom prst="rect">
            <a:avLst/>
          </a:prstGeom>
          <a:noFill/>
          <a:ln/>
        </p:spPr>
        <p:txBody>
          <a:bodyPr wrap="square" lIns="0" tIns="0" rIns="0" bIns="0" rtlCol="0" anchor="t"/>
          <a:lstStyle/>
          <a:p>
            <a:pPr indent="0" marL="0">
              <a:buNone/>
            </a:pPr>
            <a:r>
              <a:rPr lang="en-US" sz="1100" dirty="0">
                <a:solidFill>
                  <a:schemeClr val="bg2"/>
                </a:solidFill>
              </a:rPr>
              <a:t>Encuesta breve a estudiantes y docentes</a:t>
            </a:r>
            <a:endParaRPr lang="en-US" sz="1100" dirty="0"/>
          </a:p>
        </p:txBody>
      </p:sp>
      <p:sp>
        <p:nvSpPr>
          <p:cNvPr id="11" name="step 2"/>
          <p:cNvSpPr/>
          <p:nvPr/>
        </p:nvSpPr>
        <p:spPr>
          <a:xfrm>
            <a:off x="5943600" y="2423160"/>
            <a:ext cx="2743200" cy="868680"/>
          </a:xfrm>
          <a:prstGeom prst="roundRect">
            <a:avLst>
              <a:gd name="adj" fmla="val 8421"/>
            </a:avLst>
          </a:prstGeom>
          <a:solidFill>
            <a:schemeClr val="accent4"/>
          </a:solidFill>
          <a:ln/>
        </p:spPr>
      </p:sp>
      <p:sp>
        <p:nvSpPr>
          <p:cNvPr id="12" name="step num 2"/>
          <p:cNvSpPr/>
          <p:nvPr/>
        </p:nvSpPr>
        <p:spPr>
          <a:xfrm>
            <a:off x="6080760" y="2624328"/>
            <a:ext cx="457200" cy="457200"/>
          </a:xfrm>
          <a:prstGeom prst="ellipse">
            <a:avLst/>
          </a:prstGeom>
          <a:solidFill>
            <a:schemeClr val="accent2"/>
          </a:solidFill>
          <a:ln/>
        </p:spPr>
      </p:sp>
      <p:sp>
        <p:nvSpPr>
          <p:cNvPr id="13" name="Text 11"/>
          <p:cNvSpPr txBox="1"/>
          <p:nvPr/>
        </p:nvSpPr>
        <p:spPr>
          <a:xfrm>
            <a:off x="6080760" y="2624328"/>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4" name="Text 12"/>
          <p:cNvSpPr txBox="1"/>
          <p:nvPr/>
        </p:nvSpPr>
        <p:spPr>
          <a:xfrm>
            <a:off x="6675120" y="2514600"/>
            <a:ext cx="1920240" cy="274320"/>
          </a:xfrm>
          <a:prstGeom prst="rect">
            <a:avLst/>
          </a:prstGeom>
          <a:noFill/>
          <a:ln/>
        </p:spPr>
        <p:txBody>
          <a:bodyPr wrap="square" lIns="0" tIns="0" rIns="0" bIns="0" rtlCol="0" anchor="t"/>
          <a:lstStyle/>
          <a:p>
            <a:pPr indent="0" marL="0">
              <a:buNone/>
            </a:pPr>
            <a:r>
              <a:rPr lang="en-US" sz="1400" b="1" dirty="0">
                <a:solidFill>
                  <a:schemeClr val="bg1"/>
                </a:solidFill>
              </a:rPr>
              <a:t>Pilotear</a:t>
            </a:r>
            <a:endParaRPr lang="en-US" sz="1400" dirty="0"/>
          </a:p>
        </p:txBody>
      </p:sp>
      <p:sp>
        <p:nvSpPr>
          <p:cNvPr id="15" name="Text 13"/>
          <p:cNvSpPr txBox="1"/>
          <p:nvPr/>
        </p:nvSpPr>
        <p:spPr>
          <a:xfrm>
            <a:off x="6675120" y="2788920"/>
            <a:ext cx="1920240" cy="457200"/>
          </a:xfrm>
          <a:prstGeom prst="rect">
            <a:avLst/>
          </a:prstGeom>
          <a:noFill/>
          <a:ln/>
        </p:spPr>
        <p:txBody>
          <a:bodyPr wrap="square" lIns="0" tIns="0" rIns="0" bIns="0" rtlCol="0" anchor="t"/>
          <a:lstStyle/>
          <a:p>
            <a:pPr indent="0" marL="0">
              <a:buNone/>
            </a:pPr>
            <a:r>
              <a:rPr lang="en-US" sz="1100" dirty="0">
                <a:solidFill>
                  <a:schemeClr val="bg2"/>
                </a:solidFill>
              </a:rPr>
              <a:t>Etapa 1 con la herramienta gratuita de TI</a:t>
            </a:r>
            <a:endParaRPr lang="en-US" sz="1100" dirty="0"/>
          </a:p>
        </p:txBody>
      </p:sp>
      <p:sp>
        <p:nvSpPr>
          <p:cNvPr id="16" name="step 3"/>
          <p:cNvSpPr/>
          <p:nvPr/>
        </p:nvSpPr>
        <p:spPr>
          <a:xfrm>
            <a:off x="5943600" y="3474720"/>
            <a:ext cx="2743200" cy="868680"/>
          </a:xfrm>
          <a:prstGeom prst="roundRect">
            <a:avLst>
              <a:gd name="adj" fmla="val 8421"/>
            </a:avLst>
          </a:prstGeom>
          <a:solidFill>
            <a:schemeClr val="accent4"/>
          </a:solidFill>
          <a:ln/>
        </p:spPr>
      </p:sp>
      <p:sp>
        <p:nvSpPr>
          <p:cNvPr id="17" name="step num 3"/>
          <p:cNvSpPr/>
          <p:nvPr/>
        </p:nvSpPr>
        <p:spPr>
          <a:xfrm>
            <a:off x="6080760" y="3675888"/>
            <a:ext cx="457200" cy="457200"/>
          </a:xfrm>
          <a:prstGeom prst="ellipse">
            <a:avLst/>
          </a:prstGeom>
          <a:solidFill>
            <a:schemeClr val="accent2"/>
          </a:solidFill>
          <a:ln/>
        </p:spPr>
      </p:sp>
      <p:sp>
        <p:nvSpPr>
          <p:cNvPr id="18" name="Text 16"/>
          <p:cNvSpPr txBox="1"/>
          <p:nvPr/>
        </p:nvSpPr>
        <p:spPr>
          <a:xfrm>
            <a:off x="6080760" y="3675888"/>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9" name="Text 17"/>
          <p:cNvSpPr txBox="1"/>
          <p:nvPr/>
        </p:nvSpPr>
        <p:spPr>
          <a:xfrm>
            <a:off x="6675120" y="3566160"/>
            <a:ext cx="1920240" cy="274320"/>
          </a:xfrm>
          <a:prstGeom prst="rect">
            <a:avLst/>
          </a:prstGeom>
          <a:noFill/>
          <a:ln/>
        </p:spPr>
        <p:txBody>
          <a:bodyPr wrap="square" lIns="0" tIns="0" rIns="0" bIns="0" rtlCol="0" anchor="t"/>
          <a:lstStyle/>
          <a:p>
            <a:pPr indent="0" marL="0">
              <a:buNone/>
            </a:pPr>
            <a:r>
              <a:rPr lang="en-US" sz="1400" b="1" dirty="0">
                <a:solidFill>
                  <a:schemeClr val="bg1"/>
                </a:solidFill>
              </a:rPr>
              <a:t>Decidir</a:t>
            </a:r>
            <a:endParaRPr lang="en-US" sz="1400" dirty="0"/>
          </a:p>
        </p:txBody>
      </p:sp>
      <p:sp>
        <p:nvSpPr>
          <p:cNvPr id="20" name="Text 18"/>
          <p:cNvSpPr txBox="1"/>
          <p:nvPr/>
        </p:nvSpPr>
        <p:spPr>
          <a:xfrm>
            <a:off x="6675120" y="3840480"/>
            <a:ext cx="1920240" cy="457200"/>
          </a:xfrm>
          <a:prstGeom prst="rect">
            <a:avLst/>
          </a:prstGeom>
          <a:noFill/>
          <a:ln/>
        </p:spPr>
        <p:txBody>
          <a:bodyPr wrap="square" lIns="0" tIns="0" rIns="0" bIns="0" rtlCol="0" anchor="t"/>
          <a:lstStyle/>
          <a:p>
            <a:pPr indent="0" marL="0">
              <a:buNone/>
            </a:pPr>
            <a:r>
              <a:rPr lang="en-US" sz="1100" dirty="0">
                <a:solidFill>
                  <a:schemeClr val="bg2"/>
                </a:solidFill>
              </a:rPr>
              <a:t>Evaluar indicadores y, solo entonces, definir si se compra</a:t>
            </a:r>
            <a:endParaRPr lang="en-US" sz="1100" dirty="0"/>
          </a:p>
        </p:txBody>
      </p:sp>
    </p:spTree>
  </p:cSld>
  <p:clrMapOvr>
    <a:masterClrMapping/>
  </p:clrMapOvr>
</p:sld>
</file>

<file path=ppt/theme/theme1.xml><?xml version="1.0" encoding="utf-8"?>
<a:theme xmlns:a="http://schemas.openxmlformats.org/drawingml/2006/main" name="Innovatec">
  <a:themeElements>
    <a:clrScheme name="Innovatec">
      <a:dk1>
        <a:srgbClr val="1B2A2F"/>
      </a:dk1>
      <a:lt1>
        <a:srgbClr val="FFFFFF"/>
      </a:lt1>
      <a:dk2>
        <a:srgbClr val="0F3D3E"/>
      </a:dk2>
      <a:lt2>
        <a:srgbClr val="E8F3F1"/>
      </a:lt2>
      <a:accent1>
        <a:srgbClr val="2A9D8F"/>
      </a:accent1>
      <a:accent2>
        <a:srgbClr val="F4A261"/>
      </a:accent2>
      <a:accent3>
        <a:srgbClr val="E76F51"/>
      </a:accent3>
      <a:accent4>
        <a:srgbClr val="264653"/>
      </a:accent4>
      <a:accent5>
        <a:srgbClr val="8AB17D"/>
      </a:accent5>
      <a:accent6>
        <a:srgbClr val="6B7B80"/>
      </a:accent6>
      <a:hlink>
        <a:srgbClr val="2A9D8F"/>
      </a:hlink>
      <a:folHlink>
        <a:srgbClr val="264653"/>
      </a:folHlink>
    </a:clrScheme>
    <a:fontScheme name="Innovate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Caso Innovatec - Principios ITIL 4</dc:title>
  <dc:subject>PptxGenJS Presentation</dc:subject>
  <dc:creator>PptxGenJS</dc:creator>
  <cp:lastModifiedBy>PptxGenJS</cp:lastModifiedBy>
  <cp:revision>1</cp:revision>
  <dcterms:created xsi:type="dcterms:W3CDTF">2026-10-06T18:10:45Z</dcterms:created>
  <dcterms:modified xsi:type="dcterms:W3CDTF">2026-10-06T18:10:45Z</dcterms:modified>
</cp:coreProperties>
</file>